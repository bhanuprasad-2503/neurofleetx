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7" r:id="rId9"/>
    <p:sldId id="262" r:id="rId10"/>
    <p:sldId id="263" r:id="rId11"/>
    <p:sldId id="265" r:id="rId12"/>
    <p:sldId id="268" r:id="rId13"/>
  </p:sldIdLst>
  <p:sldSz cx="14630400" cy="8229600"/>
  <p:notesSz cx="8229600" cy="14630400"/>
  <p:embeddedFontLst>
    <p:embeddedFont>
      <p:font typeface="Heebo Light" pitchFamily="2" charset="-79"/>
      <p:regular r:id="rId15"/>
    </p:embeddedFont>
    <p:embeddedFont>
      <p:font typeface="Montserrat" panose="00000500000000000000"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16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notesSlide" Target="../notesSlides/notesSlide4.xml"/><Relationship Id="rId16"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svg"/><Relationship Id="rId10" Type="http://schemas.openxmlformats.org/officeDocument/2006/relationships/image" Target="../media/image28.sv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s/_rels/slide1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54.pn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3624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NeuroFleetX: AI-Driven Urban Mobility Optimization</a:t>
            </a:r>
            <a:endParaRPr lang="en-US" sz="3900" dirty="0"/>
          </a:p>
        </p:txBody>
      </p:sp>
      <p:sp>
        <p:nvSpPr>
          <p:cNvPr id="4" name="Text 1"/>
          <p:cNvSpPr/>
          <p:nvPr/>
        </p:nvSpPr>
        <p:spPr>
          <a:xfrm>
            <a:off x="793790" y="3874056"/>
            <a:ext cx="7556421" cy="396954"/>
          </a:xfrm>
          <a:prstGeom prst="rect">
            <a:avLst/>
          </a:prstGeom>
          <a:noFill/>
          <a:ln/>
        </p:spPr>
        <p:txBody>
          <a:bodyPr wrap="none" lIns="0" tIns="0" rIns="0" bIns="0" rtlCol="0" anchor="t"/>
          <a:lstStyle/>
          <a:p>
            <a:pPr marL="0" indent="0" algn="l">
              <a:lnSpc>
                <a:spcPts val="3100"/>
              </a:lnSpc>
              <a:buNone/>
            </a:pPr>
            <a:r>
              <a:rPr lang="en-US" sz="1950" b="1" dirty="0">
                <a:solidFill>
                  <a:srgbClr val="DCD7E5"/>
                </a:solidFill>
                <a:latin typeface="Heebo Light" pitchFamily="34" charset="0"/>
                <a:ea typeface="Heebo Light" pitchFamily="34" charset="-122"/>
                <a:cs typeface="Heebo Light" pitchFamily="34" charset="-120"/>
              </a:rPr>
              <a:t>Infosys Springboard Internship 6.0</a:t>
            </a:r>
            <a:endParaRPr lang="en-US" sz="1950" dirty="0"/>
          </a:p>
        </p:txBody>
      </p:sp>
      <p:sp>
        <p:nvSpPr>
          <p:cNvPr id="5" name="Text 2"/>
          <p:cNvSpPr/>
          <p:nvPr/>
        </p:nvSpPr>
        <p:spPr>
          <a:xfrm>
            <a:off x="793790" y="4494252"/>
            <a:ext cx="7556421" cy="317540"/>
          </a:xfrm>
          <a:prstGeom prst="rect">
            <a:avLst/>
          </a:prstGeom>
          <a:noFill/>
          <a:ln/>
        </p:spPr>
        <p:txBody>
          <a:bodyPr wrap="none" lIns="0" tIns="0" rIns="0" bIns="0" rtlCol="0" anchor="t"/>
          <a:lstStyle/>
          <a:p>
            <a:pPr marL="0" indent="0" algn="l">
              <a:lnSpc>
                <a:spcPts val="2500"/>
              </a:lnSpc>
              <a:buNone/>
            </a:pPr>
            <a:r>
              <a:rPr lang="en-US" sz="1550" b="1" dirty="0">
                <a:solidFill>
                  <a:srgbClr val="DCD7E5"/>
                </a:solidFill>
                <a:latin typeface="Heebo Light" pitchFamily="34" charset="0"/>
                <a:ea typeface="Heebo Light" pitchFamily="34" charset="-122"/>
                <a:cs typeface="Heebo Light" pitchFamily="34" charset="-120"/>
              </a:rPr>
              <a:t>Student name: Bhanu Prasad Babu Bellala</a:t>
            </a:r>
            <a:endParaRPr lang="en-US" sz="1550" dirty="0"/>
          </a:p>
        </p:txBody>
      </p:sp>
      <p:sp>
        <p:nvSpPr>
          <p:cNvPr id="6" name="Text 3"/>
          <p:cNvSpPr/>
          <p:nvPr/>
        </p:nvSpPr>
        <p:spPr>
          <a:xfrm>
            <a:off x="793790" y="5035034"/>
            <a:ext cx="7556421" cy="317540"/>
          </a:xfrm>
          <a:prstGeom prst="rect">
            <a:avLst/>
          </a:prstGeom>
          <a:noFill/>
          <a:ln/>
        </p:spPr>
        <p:txBody>
          <a:bodyPr wrap="none" lIns="0" tIns="0" rIns="0" bIns="0" rtlCol="0" anchor="t"/>
          <a:lstStyle/>
          <a:p>
            <a:pPr marL="0" indent="0" algn="l">
              <a:lnSpc>
                <a:spcPts val="2500"/>
              </a:lnSpc>
              <a:buNone/>
            </a:pPr>
            <a:r>
              <a:rPr lang="en-US" sz="1550" b="1" dirty="0">
                <a:solidFill>
                  <a:srgbClr val="DCD7E5"/>
                </a:solidFill>
                <a:latin typeface="Heebo Light" pitchFamily="34" charset="0"/>
                <a:ea typeface="Heebo Light" pitchFamily="34" charset="-122"/>
                <a:cs typeface="Heebo Light" pitchFamily="34" charset="-120"/>
              </a:rPr>
              <a:t>Batch: 04</a:t>
            </a:r>
            <a:endParaRPr lang="en-US" sz="1550" dirty="0"/>
          </a:p>
        </p:txBody>
      </p:sp>
      <p:sp>
        <p:nvSpPr>
          <p:cNvPr id="7" name="Text 4"/>
          <p:cNvSpPr/>
          <p:nvPr/>
        </p:nvSpPr>
        <p:spPr>
          <a:xfrm>
            <a:off x="793790" y="5575816"/>
            <a:ext cx="7556421" cy="317540"/>
          </a:xfrm>
          <a:prstGeom prst="rect">
            <a:avLst/>
          </a:prstGeom>
          <a:noFill/>
          <a:ln/>
        </p:spPr>
        <p:txBody>
          <a:bodyPr wrap="none" lIns="0" tIns="0" rIns="0" bIns="0" rtlCol="0" anchor="t"/>
          <a:lstStyle/>
          <a:p>
            <a:pPr marL="0" indent="0" algn="l">
              <a:lnSpc>
                <a:spcPts val="25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03703"/>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INTRODUCTION</a:t>
            </a:r>
            <a:endParaRPr lang="en-US" sz="3900" dirty="0"/>
          </a:p>
        </p:txBody>
      </p:sp>
      <p:sp>
        <p:nvSpPr>
          <p:cNvPr id="4" name="Text 1"/>
          <p:cNvSpPr/>
          <p:nvPr/>
        </p:nvSpPr>
        <p:spPr>
          <a:xfrm>
            <a:off x="6280190" y="2921437"/>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The rapid expansion of urban centers presents unprecedented challenges for mobility. Congestion, pollution, and inefficient transportation networks demand innovative solutions. As cities grow, so does the complexity of managing large vehicle fleets, from logistics to public transport.</a:t>
            </a:r>
            <a:endParaRPr lang="en-US" sz="1550" dirty="0"/>
          </a:p>
        </p:txBody>
      </p:sp>
      <p:sp>
        <p:nvSpPr>
          <p:cNvPr id="5" name="Text 2"/>
          <p:cNvSpPr/>
          <p:nvPr/>
        </p:nvSpPr>
        <p:spPr>
          <a:xfrm>
            <a:off x="6280190" y="4414838"/>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This scenario highlights a critical need for </a:t>
            </a:r>
            <a:r>
              <a:rPr lang="en-US" sz="1550" b="1" dirty="0">
                <a:solidFill>
                  <a:srgbClr val="DCD7E5"/>
                </a:solidFill>
                <a:latin typeface="Heebo Light" pitchFamily="34" charset="0"/>
                <a:ea typeface="Heebo Light" pitchFamily="34" charset="-122"/>
                <a:cs typeface="Heebo Light" pitchFamily="34" charset="-120"/>
              </a:rPr>
              <a:t>smart, real-time fleet intelligence</a:t>
            </a:r>
            <a:r>
              <a:rPr lang="en-US" sz="1550" dirty="0">
                <a:solidFill>
                  <a:srgbClr val="DCD7E5"/>
                </a:solidFill>
                <a:latin typeface="Heebo Light" pitchFamily="34" charset="0"/>
                <a:ea typeface="Heebo Light" pitchFamily="34" charset="-122"/>
                <a:cs typeface="Heebo Light" pitchFamily="34" charset="-120"/>
              </a:rPr>
              <a:t> that can adapt and optimize operations dynamically. Traditional methods are no longer sufficient to meet the demands of modern urban environments.</a:t>
            </a:r>
            <a:endParaRPr lang="en-US" sz="1550" dirty="0"/>
          </a:p>
        </p:txBody>
      </p:sp>
      <p:sp>
        <p:nvSpPr>
          <p:cNvPr id="6" name="Text 3"/>
          <p:cNvSpPr/>
          <p:nvPr/>
        </p:nvSpPr>
        <p:spPr>
          <a:xfrm>
            <a:off x="6280190" y="5590699"/>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NeuroFleetX emerges as a comprehensive solution, leveraging cutting-edge AI to provide advanced optimization and enhance overall urban mobility systems.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55132"/>
            <a:ext cx="5744766" cy="620078"/>
          </a:xfrm>
          <a:prstGeom prst="rect">
            <a:avLst/>
          </a:prstGeom>
          <a:noFill/>
          <a:ln/>
        </p:spPr>
        <p:txBody>
          <a:bodyPr wrap="non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PROBLEM STATEMENT</a:t>
            </a:r>
            <a:endParaRPr lang="en-US" sz="3900" dirty="0"/>
          </a:p>
        </p:txBody>
      </p:sp>
      <p:sp>
        <p:nvSpPr>
          <p:cNvPr id="3" name="Shape 1"/>
          <p:cNvSpPr/>
          <p:nvPr/>
        </p:nvSpPr>
        <p:spPr>
          <a:xfrm>
            <a:off x="793790" y="2072045"/>
            <a:ext cx="4215289" cy="2451973"/>
          </a:xfrm>
          <a:prstGeom prst="roundRect">
            <a:avLst>
              <a:gd name="adj" fmla="val 4475"/>
            </a:avLst>
          </a:prstGeom>
          <a:solidFill>
            <a:srgbClr val="0D0A2C">
              <a:alpha val="95000"/>
            </a:srgbClr>
          </a:solidFill>
          <a:ln w="22860">
            <a:solidFill>
              <a:srgbClr val="4A2C85"/>
            </a:solidFill>
            <a:prstDash val="solid"/>
          </a:ln>
        </p:spPr>
      </p:sp>
      <p:pic>
        <p:nvPicPr>
          <p:cNvPr id="4" name="Image 0" descr="preencoded.png"/>
          <p:cNvPicPr>
            <a:picLocks noChangeAspect="1"/>
          </p:cNvPicPr>
          <p:nvPr/>
        </p:nvPicPr>
        <p:blipFill>
          <a:blip r:embed="rId3"/>
          <a:stretch>
            <a:fillRect/>
          </a:stretch>
        </p:blipFill>
        <p:spPr>
          <a:xfrm>
            <a:off x="770930" y="2072045"/>
            <a:ext cx="91440" cy="2451973"/>
          </a:xfrm>
          <a:prstGeom prst="rect">
            <a:avLst/>
          </a:prstGeom>
        </p:spPr>
      </p:pic>
      <p:sp>
        <p:nvSpPr>
          <p:cNvPr id="5" name="Text 2"/>
          <p:cNvSpPr/>
          <p:nvPr/>
        </p:nvSpPr>
        <p:spPr>
          <a:xfrm>
            <a:off x="1083588" y="2293263"/>
            <a:ext cx="3244215"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Lack of Real-time Visibility</a:t>
            </a:r>
            <a:endParaRPr lang="en-US" sz="1950" dirty="0"/>
          </a:p>
        </p:txBody>
      </p:sp>
      <p:sp>
        <p:nvSpPr>
          <p:cNvPr id="6" name="Text 3"/>
          <p:cNvSpPr/>
          <p:nvPr/>
        </p:nvSpPr>
        <p:spPr>
          <a:xfrm>
            <a:off x="1083588" y="2722483"/>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Fleet managers often don’t have live updates on vehicle location, health, or performance, leading to delays, confusion, and poor route decisions.</a:t>
            </a:r>
            <a:endParaRPr lang="en-US" sz="1550" dirty="0"/>
          </a:p>
        </p:txBody>
      </p:sp>
      <p:sp>
        <p:nvSpPr>
          <p:cNvPr id="7" name="Shape 4"/>
          <p:cNvSpPr/>
          <p:nvPr/>
        </p:nvSpPr>
        <p:spPr>
          <a:xfrm>
            <a:off x="5207437" y="2072045"/>
            <a:ext cx="4215408" cy="2451973"/>
          </a:xfrm>
          <a:prstGeom prst="roundRect">
            <a:avLst>
              <a:gd name="adj" fmla="val 4475"/>
            </a:avLst>
          </a:prstGeom>
          <a:solidFill>
            <a:srgbClr val="0D0A2C">
              <a:alpha val="95000"/>
            </a:srgbClr>
          </a:solidFill>
          <a:ln w="22860">
            <a:solidFill>
              <a:srgbClr val="4A2C85"/>
            </a:solidFill>
            <a:prstDash val="solid"/>
          </a:ln>
        </p:spPr>
      </p:sp>
      <p:pic>
        <p:nvPicPr>
          <p:cNvPr id="8" name="Image 1" descr="preencoded.png"/>
          <p:cNvPicPr>
            <a:picLocks noChangeAspect="1"/>
          </p:cNvPicPr>
          <p:nvPr/>
        </p:nvPicPr>
        <p:blipFill>
          <a:blip r:embed="rId3"/>
          <a:stretch>
            <a:fillRect/>
          </a:stretch>
        </p:blipFill>
        <p:spPr>
          <a:xfrm>
            <a:off x="5184577" y="2072045"/>
            <a:ext cx="91440" cy="2451973"/>
          </a:xfrm>
          <a:prstGeom prst="rect">
            <a:avLst/>
          </a:prstGeom>
        </p:spPr>
      </p:pic>
      <p:sp>
        <p:nvSpPr>
          <p:cNvPr id="9" name="Text 5"/>
          <p:cNvSpPr/>
          <p:nvPr/>
        </p:nvSpPr>
        <p:spPr>
          <a:xfrm>
            <a:off x="5497235" y="2293263"/>
            <a:ext cx="3704392" cy="620316"/>
          </a:xfrm>
          <a:prstGeom prst="rect">
            <a:avLst/>
          </a:prstGeom>
          <a:noFill/>
          <a:ln/>
        </p:spPr>
        <p:txBody>
          <a:bodyPr wrap="squar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Inefficient Booking &amp; Dispatch</a:t>
            </a:r>
            <a:endParaRPr lang="en-US" sz="1950" dirty="0"/>
          </a:p>
        </p:txBody>
      </p:sp>
      <p:sp>
        <p:nvSpPr>
          <p:cNvPr id="10" name="Text 6"/>
          <p:cNvSpPr/>
          <p:nvPr/>
        </p:nvSpPr>
        <p:spPr>
          <a:xfrm>
            <a:off x="5497235" y="3032641"/>
            <a:ext cx="3704392"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Manual or outdated booking and dispatch processes cause significant delays, increase operational costs, and reduce customer satisfaction.</a:t>
            </a:r>
            <a:endParaRPr lang="en-US" sz="1550" dirty="0"/>
          </a:p>
        </p:txBody>
      </p:sp>
      <p:sp>
        <p:nvSpPr>
          <p:cNvPr id="11" name="Shape 7"/>
          <p:cNvSpPr/>
          <p:nvPr/>
        </p:nvSpPr>
        <p:spPr>
          <a:xfrm>
            <a:off x="9621203" y="2072045"/>
            <a:ext cx="4215289" cy="2451973"/>
          </a:xfrm>
          <a:prstGeom prst="roundRect">
            <a:avLst>
              <a:gd name="adj" fmla="val 4475"/>
            </a:avLst>
          </a:prstGeom>
          <a:solidFill>
            <a:srgbClr val="0D0A2C">
              <a:alpha val="95000"/>
            </a:srgbClr>
          </a:solidFill>
          <a:ln w="22860">
            <a:solidFill>
              <a:srgbClr val="4A2C85"/>
            </a:solidFill>
            <a:prstDash val="solid"/>
          </a:ln>
        </p:spPr>
      </p:sp>
      <p:pic>
        <p:nvPicPr>
          <p:cNvPr id="12" name="Image 2" descr="preencoded.png"/>
          <p:cNvPicPr>
            <a:picLocks noChangeAspect="1"/>
          </p:cNvPicPr>
          <p:nvPr/>
        </p:nvPicPr>
        <p:blipFill>
          <a:blip r:embed="rId3"/>
          <a:stretch>
            <a:fillRect/>
          </a:stretch>
        </p:blipFill>
        <p:spPr>
          <a:xfrm>
            <a:off x="9598343" y="2072045"/>
            <a:ext cx="91440" cy="2451973"/>
          </a:xfrm>
          <a:prstGeom prst="rect">
            <a:avLst/>
          </a:prstGeom>
        </p:spPr>
      </p:pic>
      <p:sp>
        <p:nvSpPr>
          <p:cNvPr id="13" name="Text 8"/>
          <p:cNvSpPr/>
          <p:nvPr/>
        </p:nvSpPr>
        <p:spPr>
          <a:xfrm>
            <a:off x="9911001" y="2293263"/>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Absence of Predictive Maintenance</a:t>
            </a:r>
            <a:endParaRPr lang="en-US" sz="1950" dirty="0"/>
          </a:p>
        </p:txBody>
      </p:sp>
      <p:sp>
        <p:nvSpPr>
          <p:cNvPr id="14" name="Text 9"/>
          <p:cNvSpPr/>
          <p:nvPr/>
        </p:nvSpPr>
        <p:spPr>
          <a:xfrm>
            <a:off x="9911001" y="3032641"/>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Reactive maintenance leads to unexpected breakdowns, high repair costs, and prolonged vehicle downtime, impacting service delivery.</a:t>
            </a:r>
            <a:endParaRPr lang="en-US" sz="1550" dirty="0"/>
          </a:p>
        </p:txBody>
      </p:sp>
      <p:sp>
        <p:nvSpPr>
          <p:cNvPr id="15" name="Shape 10"/>
          <p:cNvSpPr/>
          <p:nvPr/>
        </p:nvSpPr>
        <p:spPr>
          <a:xfrm>
            <a:off x="793790" y="4722376"/>
            <a:ext cx="4215289" cy="2451973"/>
          </a:xfrm>
          <a:prstGeom prst="roundRect">
            <a:avLst>
              <a:gd name="adj" fmla="val 4475"/>
            </a:avLst>
          </a:prstGeom>
          <a:solidFill>
            <a:srgbClr val="0D0A2C">
              <a:alpha val="95000"/>
            </a:srgbClr>
          </a:solidFill>
          <a:ln w="22860">
            <a:solidFill>
              <a:srgbClr val="4A2C85"/>
            </a:solidFill>
            <a:prstDash val="solid"/>
          </a:ln>
        </p:spPr>
      </p:sp>
      <p:pic>
        <p:nvPicPr>
          <p:cNvPr id="16" name="Image 3" descr="preencoded.png"/>
          <p:cNvPicPr>
            <a:picLocks noChangeAspect="1"/>
          </p:cNvPicPr>
          <p:nvPr/>
        </p:nvPicPr>
        <p:blipFill>
          <a:blip r:embed="rId3"/>
          <a:stretch>
            <a:fillRect/>
          </a:stretch>
        </p:blipFill>
        <p:spPr>
          <a:xfrm>
            <a:off x="770930" y="4722376"/>
            <a:ext cx="91440" cy="2451973"/>
          </a:xfrm>
          <a:prstGeom prst="rect">
            <a:avLst/>
          </a:prstGeom>
        </p:spPr>
      </p:pic>
      <p:sp>
        <p:nvSpPr>
          <p:cNvPr id="17" name="Text 11"/>
          <p:cNvSpPr/>
          <p:nvPr/>
        </p:nvSpPr>
        <p:spPr>
          <a:xfrm>
            <a:off x="1083588" y="4943594"/>
            <a:ext cx="3704273" cy="620316"/>
          </a:xfrm>
          <a:prstGeom prst="rect">
            <a:avLst/>
          </a:prstGeom>
          <a:noFill/>
          <a:ln/>
        </p:spPr>
        <p:txBody>
          <a:bodyPr wrap="squar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High Downtime &amp; Low Utilization</a:t>
            </a:r>
            <a:endParaRPr lang="en-US" sz="1950" dirty="0"/>
          </a:p>
        </p:txBody>
      </p:sp>
      <p:sp>
        <p:nvSpPr>
          <p:cNvPr id="18" name="Text 12"/>
          <p:cNvSpPr/>
          <p:nvPr/>
        </p:nvSpPr>
        <p:spPr>
          <a:xfrm>
            <a:off x="1083588" y="5682972"/>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Combined inefficiencies result in vehicles spending more time idle or in repair, significantly lowering asset utilization and profitability.</a:t>
            </a:r>
            <a:endParaRPr lang="en-US" sz="1550" dirty="0"/>
          </a:p>
        </p:txBody>
      </p:sp>
      <p:sp>
        <p:nvSpPr>
          <p:cNvPr id="19" name="Shape 13"/>
          <p:cNvSpPr/>
          <p:nvPr/>
        </p:nvSpPr>
        <p:spPr>
          <a:xfrm>
            <a:off x="5207437" y="4722376"/>
            <a:ext cx="4215408" cy="2451973"/>
          </a:xfrm>
          <a:prstGeom prst="roundRect">
            <a:avLst>
              <a:gd name="adj" fmla="val 4475"/>
            </a:avLst>
          </a:prstGeom>
          <a:solidFill>
            <a:srgbClr val="0D0A2C">
              <a:alpha val="95000"/>
            </a:srgbClr>
          </a:solidFill>
          <a:ln w="22860">
            <a:solidFill>
              <a:srgbClr val="4A2C85"/>
            </a:solidFill>
            <a:prstDash val="solid"/>
          </a:ln>
        </p:spPr>
      </p:sp>
      <p:pic>
        <p:nvPicPr>
          <p:cNvPr id="20" name="Image 4" descr="preencoded.png"/>
          <p:cNvPicPr>
            <a:picLocks noChangeAspect="1"/>
          </p:cNvPicPr>
          <p:nvPr/>
        </p:nvPicPr>
        <p:blipFill>
          <a:blip r:embed="rId3"/>
          <a:stretch>
            <a:fillRect/>
          </a:stretch>
        </p:blipFill>
        <p:spPr>
          <a:xfrm>
            <a:off x="5184577" y="4722376"/>
            <a:ext cx="91440" cy="2451973"/>
          </a:xfrm>
          <a:prstGeom prst="rect">
            <a:avLst/>
          </a:prstGeom>
        </p:spPr>
      </p:pic>
      <p:sp>
        <p:nvSpPr>
          <p:cNvPr id="21" name="Text 14"/>
          <p:cNvSpPr/>
          <p:nvPr/>
        </p:nvSpPr>
        <p:spPr>
          <a:xfrm>
            <a:off x="5497235" y="4943594"/>
            <a:ext cx="3704392" cy="620316"/>
          </a:xfrm>
          <a:prstGeom prst="rect">
            <a:avLst/>
          </a:prstGeom>
          <a:noFill/>
          <a:ln/>
        </p:spPr>
        <p:txBody>
          <a:bodyPr wrap="squar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Fragmented Fleet Management</a:t>
            </a:r>
            <a:endParaRPr lang="en-US" sz="1950" dirty="0"/>
          </a:p>
        </p:txBody>
      </p:sp>
      <p:sp>
        <p:nvSpPr>
          <p:cNvPr id="22" name="Text 15"/>
          <p:cNvSpPr/>
          <p:nvPr/>
        </p:nvSpPr>
        <p:spPr>
          <a:xfrm>
            <a:off x="5497235" y="5682972"/>
            <a:ext cx="3704392"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Many organizations rely on disparate systems that don't communicate, preventing a holistic view and integrated control of their entire fleet.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94636"/>
            <a:ext cx="10055185" cy="620078"/>
          </a:xfrm>
          <a:prstGeom prst="rect">
            <a:avLst/>
          </a:prstGeom>
          <a:noFill/>
          <a:ln/>
        </p:spPr>
        <p:txBody>
          <a:bodyPr wrap="non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NeuroFleetX:  Technology Stack</a:t>
            </a:r>
            <a:endParaRPr lang="en-US" sz="3900" dirty="0"/>
          </a:p>
        </p:txBody>
      </p:sp>
      <p:sp>
        <p:nvSpPr>
          <p:cNvPr id="3" name="Text 1"/>
          <p:cNvSpPr/>
          <p:nvPr/>
        </p:nvSpPr>
        <p:spPr>
          <a:xfrm>
            <a:off x="793790" y="191154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NeuroFleetX is built on a robust and scalable architecture, utilizing industry-standard technologies to ensure high performance, reliability, and ease of development. This modern tech stack enables rapid iteration and integration of advanced features.</a:t>
            </a:r>
            <a:endParaRPr lang="en-US" sz="1550" dirty="0"/>
          </a:p>
        </p:txBody>
      </p:sp>
      <p:sp>
        <p:nvSpPr>
          <p:cNvPr id="4" name="Text 2"/>
          <p:cNvSpPr/>
          <p:nvPr/>
        </p:nvSpPr>
        <p:spPr>
          <a:xfrm>
            <a:off x="2551748" y="3304461"/>
            <a:ext cx="2480905" cy="310158"/>
          </a:xfrm>
          <a:prstGeom prst="rect">
            <a:avLst/>
          </a:prstGeom>
          <a:noFill/>
          <a:ln/>
        </p:spPr>
        <p:txBody>
          <a:bodyPr wrap="none" lIns="0" tIns="0" rIns="0" bIns="0" rtlCol="0" anchor="t"/>
          <a:lstStyle/>
          <a:p>
            <a:pPr marL="0" indent="0" algn="r">
              <a:lnSpc>
                <a:spcPts val="2400"/>
              </a:lnSpc>
              <a:buNone/>
            </a:pPr>
            <a:r>
              <a:rPr lang="en-US" sz="1950" dirty="0">
                <a:solidFill>
                  <a:srgbClr val="DCD7E5"/>
                </a:solidFill>
                <a:latin typeface="Montserrat" pitchFamily="34" charset="0"/>
                <a:ea typeface="Montserrat" pitchFamily="34" charset="-122"/>
                <a:cs typeface="Montserrat" pitchFamily="34" charset="-120"/>
              </a:rPr>
              <a:t>Frontend: React</a:t>
            </a:r>
            <a:endParaRPr lang="en-US" sz="1950" dirty="0"/>
          </a:p>
        </p:txBody>
      </p:sp>
      <p:sp>
        <p:nvSpPr>
          <p:cNvPr id="5" name="Text 3"/>
          <p:cNvSpPr/>
          <p:nvPr/>
        </p:nvSpPr>
        <p:spPr>
          <a:xfrm>
            <a:off x="793790" y="3733681"/>
            <a:ext cx="4238863" cy="635079"/>
          </a:xfrm>
          <a:prstGeom prst="rect">
            <a:avLst/>
          </a:prstGeom>
          <a:noFill/>
          <a:ln/>
        </p:spPr>
        <p:txBody>
          <a:bodyPr wrap="square" lIns="0" tIns="0" rIns="0" bIns="0" rtlCol="0" anchor="t"/>
          <a:lstStyle/>
          <a:p>
            <a:pPr marL="0" indent="0" algn="r">
              <a:lnSpc>
                <a:spcPts val="2500"/>
              </a:lnSpc>
              <a:buNone/>
            </a:pPr>
            <a:r>
              <a:rPr lang="en-US" sz="1550" dirty="0">
                <a:solidFill>
                  <a:srgbClr val="DCD7E5"/>
                </a:solidFill>
                <a:latin typeface="Heebo Light" pitchFamily="34" charset="0"/>
                <a:ea typeface="Heebo Light" pitchFamily="34" charset="-122"/>
                <a:cs typeface="Heebo Light" pitchFamily="34" charset="-120"/>
              </a:rPr>
              <a:t>Dynamic and responsive user interfaces for an intuitive user experience.</a:t>
            </a:r>
            <a:endParaRPr lang="en-US" sz="1550" dirty="0"/>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4528" y="4221778"/>
            <a:ext cx="279083" cy="279083"/>
          </a:xfrm>
          <a:prstGeom prst="rect">
            <a:avLst/>
          </a:prstGeom>
        </p:spPr>
      </p:pic>
      <p:sp>
        <p:nvSpPr>
          <p:cNvPr id="8" name="Text 4"/>
          <p:cNvSpPr/>
          <p:nvPr/>
        </p:nvSpPr>
        <p:spPr>
          <a:xfrm>
            <a:off x="9597628" y="2899291"/>
            <a:ext cx="2703314"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Backend: Spring Boot</a:t>
            </a:r>
            <a:endParaRPr lang="en-US" sz="1950" dirty="0"/>
          </a:p>
        </p:txBody>
      </p:sp>
      <p:sp>
        <p:nvSpPr>
          <p:cNvPr id="9" name="Text 5"/>
          <p:cNvSpPr/>
          <p:nvPr/>
        </p:nvSpPr>
        <p:spPr>
          <a:xfrm>
            <a:off x="9597628" y="3328511"/>
            <a:ext cx="4238982"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Robust and scalable API services for seamless data handling and business logic.</a:t>
            </a:r>
            <a:endParaRPr lang="en-US" sz="1550" dirty="0"/>
          </a:p>
        </p:txBody>
      </p:sp>
      <p:pic>
        <p:nvPicPr>
          <p:cNvPr id="10" name="Image 2" descr="preencoded.png"/>
          <p:cNvPicPr>
            <a:picLocks noChangeAspect="1"/>
          </p:cNvPicPr>
          <p:nvPr/>
        </p:nvPicPr>
        <p:blipFill>
          <a:blip r:embed="rId6"/>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38740" y="3794700"/>
            <a:ext cx="279083" cy="279083"/>
          </a:xfrm>
          <a:prstGeom prst="rect">
            <a:avLst/>
          </a:prstGeom>
        </p:spPr>
      </p:pic>
      <p:sp>
        <p:nvSpPr>
          <p:cNvPr id="12" name="Text 6"/>
          <p:cNvSpPr/>
          <p:nvPr/>
        </p:nvSpPr>
        <p:spPr>
          <a:xfrm>
            <a:off x="9994463" y="452008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Database: MySQL</a:t>
            </a:r>
            <a:endParaRPr lang="en-US" sz="1950" dirty="0"/>
          </a:p>
        </p:txBody>
      </p:sp>
      <p:sp>
        <p:nvSpPr>
          <p:cNvPr id="13" name="Text 7"/>
          <p:cNvSpPr/>
          <p:nvPr/>
        </p:nvSpPr>
        <p:spPr>
          <a:xfrm>
            <a:off x="9994463" y="4949309"/>
            <a:ext cx="3842147"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Reliable and efficient data storage for all fleet information and operational logs.</a:t>
            </a:r>
            <a:endParaRPr lang="en-US" sz="1550" dirty="0"/>
          </a:p>
        </p:txBody>
      </p:sp>
      <p:pic>
        <p:nvPicPr>
          <p:cNvPr id="14" name="Image 4" descr="preencoded.png"/>
          <p:cNvPicPr>
            <a:picLocks noChangeAspect="1"/>
          </p:cNvPicPr>
          <p:nvPr/>
        </p:nvPicPr>
        <p:blipFill>
          <a:blip r:embed="rId9"/>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50984" y="4912697"/>
            <a:ext cx="279083" cy="279083"/>
          </a:xfrm>
          <a:prstGeom prst="rect">
            <a:avLst/>
          </a:prstGeom>
        </p:spPr>
      </p:pic>
      <p:sp>
        <p:nvSpPr>
          <p:cNvPr id="16" name="Text 8"/>
          <p:cNvSpPr/>
          <p:nvPr/>
        </p:nvSpPr>
        <p:spPr>
          <a:xfrm>
            <a:off x="9597628" y="6141006"/>
            <a:ext cx="2644497"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API Testing: Postman</a:t>
            </a:r>
            <a:endParaRPr lang="en-US" sz="1950" dirty="0"/>
          </a:p>
        </p:txBody>
      </p:sp>
      <p:sp>
        <p:nvSpPr>
          <p:cNvPr id="17" name="Text 9"/>
          <p:cNvSpPr/>
          <p:nvPr/>
        </p:nvSpPr>
        <p:spPr>
          <a:xfrm>
            <a:off x="9597628" y="6570226"/>
            <a:ext cx="4238982"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Streamlined API development and testing to ensure system integrity.</a:t>
            </a:r>
            <a:endParaRPr lang="en-US" sz="1550" dirty="0"/>
          </a:p>
        </p:txBody>
      </p:sp>
      <p:pic>
        <p:nvPicPr>
          <p:cNvPr id="18" name="Image 6" descr="preencoded.png"/>
          <p:cNvPicPr>
            <a:picLocks noChangeAspect="1"/>
          </p:cNvPicPr>
          <p:nvPr/>
        </p:nvPicPr>
        <p:blipFill>
          <a:blip r:embed="rId12"/>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38740" y="6030694"/>
            <a:ext cx="279083" cy="279083"/>
          </a:xfrm>
          <a:prstGeom prst="rect">
            <a:avLst/>
          </a:prstGeom>
        </p:spPr>
      </p:pic>
      <p:sp>
        <p:nvSpPr>
          <p:cNvPr id="20" name="Text 10"/>
          <p:cNvSpPr/>
          <p:nvPr/>
        </p:nvSpPr>
        <p:spPr>
          <a:xfrm>
            <a:off x="2125266" y="5735717"/>
            <a:ext cx="2907387" cy="310158"/>
          </a:xfrm>
          <a:prstGeom prst="rect">
            <a:avLst/>
          </a:prstGeom>
          <a:noFill/>
          <a:ln/>
        </p:spPr>
        <p:txBody>
          <a:bodyPr wrap="none" lIns="0" tIns="0" rIns="0" bIns="0" rtlCol="0" anchor="t"/>
          <a:lstStyle/>
          <a:p>
            <a:pPr marL="0" indent="0" algn="r">
              <a:lnSpc>
                <a:spcPts val="2400"/>
              </a:lnSpc>
              <a:buNone/>
            </a:pPr>
            <a:r>
              <a:rPr lang="en-US" sz="1950" dirty="0">
                <a:solidFill>
                  <a:srgbClr val="DCD7E5"/>
                </a:solidFill>
                <a:latin typeface="Montserrat" pitchFamily="34" charset="0"/>
                <a:ea typeface="Montserrat" pitchFamily="34" charset="-122"/>
                <a:cs typeface="Montserrat" pitchFamily="34" charset="-120"/>
              </a:rPr>
              <a:t>Version Control: GitHub</a:t>
            </a:r>
            <a:endParaRPr lang="en-US" sz="1950" dirty="0"/>
          </a:p>
        </p:txBody>
      </p:sp>
      <p:sp>
        <p:nvSpPr>
          <p:cNvPr id="21" name="Text 11"/>
          <p:cNvSpPr/>
          <p:nvPr/>
        </p:nvSpPr>
        <p:spPr>
          <a:xfrm>
            <a:off x="793790" y="6164937"/>
            <a:ext cx="4238863" cy="635079"/>
          </a:xfrm>
          <a:prstGeom prst="rect">
            <a:avLst/>
          </a:prstGeom>
          <a:noFill/>
          <a:ln/>
        </p:spPr>
        <p:txBody>
          <a:bodyPr wrap="square" lIns="0" tIns="0" rIns="0" bIns="0" rtlCol="0" anchor="t"/>
          <a:lstStyle/>
          <a:p>
            <a:pPr marL="0" indent="0" algn="r">
              <a:lnSpc>
                <a:spcPts val="2500"/>
              </a:lnSpc>
              <a:buNone/>
            </a:pPr>
            <a:r>
              <a:rPr lang="en-US" sz="1550" dirty="0">
                <a:solidFill>
                  <a:srgbClr val="DCD7E5"/>
                </a:solidFill>
                <a:latin typeface="Heebo Light" pitchFamily="34" charset="0"/>
                <a:ea typeface="Heebo Light" pitchFamily="34" charset="-122"/>
                <a:cs typeface="Heebo Light" pitchFamily="34" charset="-120"/>
              </a:rPr>
              <a:t>Collaborative development and comprehensive code management.</a:t>
            </a:r>
            <a:endParaRPr lang="en-US" sz="1550" dirty="0"/>
          </a:p>
        </p:txBody>
      </p:sp>
      <p:pic>
        <p:nvPicPr>
          <p:cNvPr id="22" name="Image 8" descr="preencoded.png"/>
          <p:cNvPicPr>
            <a:picLocks noChangeAspect="1"/>
          </p:cNvPicPr>
          <p:nvPr/>
        </p:nvPicPr>
        <p:blipFill>
          <a:blip r:embed="rId15"/>
          <a:stretch>
            <a:fillRect/>
          </a:stretch>
        </p:blipFill>
        <p:spPr>
          <a:xfrm>
            <a:off x="5032653" y="2769870"/>
            <a:ext cx="4564975" cy="4564975"/>
          </a:xfrm>
          <a:prstGeom prst="rect">
            <a:avLst/>
          </a:prstGeom>
        </p:spPr>
      </p:pic>
      <p:pic>
        <p:nvPicPr>
          <p:cNvPr id="23"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224528" y="5603617"/>
            <a:ext cx="279083" cy="2790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1157"/>
            <a:ext cx="12368689" cy="620078"/>
          </a:xfrm>
          <a:prstGeom prst="rect">
            <a:avLst/>
          </a:prstGeom>
          <a:noFill/>
          <a:ln/>
        </p:spPr>
        <p:txBody>
          <a:bodyPr wrap="non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Key Objectives: Driving Efficiency and Intelligence</a:t>
            </a:r>
            <a:endParaRPr lang="en-US" sz="3900" dirty="0"/>
          </a:p>
        </p:txBody>
      </p:sp>
      <p:sp>
        <p:nvSpPr>
          <p:cNvPr id="3" name="Text 1"/>
          <p:cNvSpPr/>
          <p:nvPr/>
        </p:nvSpPr>
        <p:spPr>
          <a:xfrm>
            <a:off x="793790" y="169806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Our primary goals for NeuroFleetX revolve around transforming fleet operations through intelligent automation and real-time insights, addressing the critical pain points identified in current systems.</a:t>
            </a:r>
            <a:endParaRPr lang="en-US" sz="1550" dirty="0"/>
          </a:p>
        </p:txBody>
      </p:sp>
      <p:sp>
        <p:nvSpPr>
          <p:cNvPr id="4" name="Shape 2"/>
          <p:cNvSpPr/>
          <p:nvPr/>
        </p:nvSpPr>
        <p:spPr>
          <a:xfrm>
            <a:off x="793790" y="2854047"/>
            <a:ext cx="4215289" cy="2416731"/>
          </a:xfrm>
          <a:prstGeom prst="roundRect">
            <a:avLst>
              <a:gd name="adj" fmla="val 4540"/>
            </a:avLst>
          </a:prstGeom>
          <a:solidFill>
            <a:srgbClr val="0D0A2C">
              <a:alpha val="95000"/>
            </a:srgbClr>
          </a:solidFill>
          <a:ln/>
        </p:spPr>
      </p:sp>
      <p:pic>
        <p:nvPicPr>
          <p:cNvPr id="5" name="Image 0" descr="preencoded.png"/>
          <p:cNvPicPr>
            <a:picLocks noChangeAspect="1"/>
          </p:cNvPicPr>
          <p:nvPr/>
        </p:nvPicPr>
        <p:blipFill>
          <a:blip r:embed="rId3"/>
          <a:stretch>
            <a:fillRect/>
          </a:stretch>
        </p:blipFill>
        <p:spPr>
          <a:xfrm>
            <a:off x="793790" y="2831187"/>
            <a:ext cx="4215289" cy="91440"/>
          </a:xfrm>
          <a:prstGeom prst="rect">
            <a:avLst/>
          </a:prstGeom>
        </p:spPr>
      </p:pic>
      <p:pic>
        <p:nvPicPr>
          <p:cNvPr id="6" name="Image 1" descr="preencoded.png"/>
          <p:cNvPicPr>
            <a:picLocks noChangeAspect="1"/>
          </p:cNvPicPr>
          <p:nvPr/>
        </p:nvPicPr>
        <p:blipFill>
          <a:blip r:embed="rId4"/>
          <a:stretch>
            <a:fillRect/>
          </a:stretch>
        </p:blipFill>
        <p:spPr>
          <a:xfrm>
            <a:off x="2603778" y="2556391"/>
            <a:ext cx="595313" cy="595313"/>
          </a:xfrm>
          <a:prstGeom prst="rect">
            <a:avLst/>
          </a:prstGeom>
        </p:spPr>
      </p:pic>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82372" y="2734985"/>
            <a:ext cx="238125" cy="238125"/>
          </a:xfrm>
          <a:prstGeom prst="rect">
            <a:avLst/>
          </a:prstGeom>
        </p:spPr>
      </p:pic>
      <p:sp>
        <p:nvSpPr>
          <p:cNvPr id="8" name="Text 3"/>
          <p:cNvSpPr/>
          <p:nvPr/>
        </p:nvSpPr>
        <p:spPr>
          <a:xfrm>
            <a:off x="1015008" y="3350181"/>
            <a:ext cx="3651647"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Real-time Telemetry Tracking</a:t>
            </a:r>
            <a:endParaRPr lang="en-US" sz="1950" dirty="0"/>
          </a:p>
        </p:txBody>
      </p:sp>
      <p:sp>
        <p:nvSpPr>
          <p:cNvPr id="9" name="Text 4"/>
          <p:cNvSpPr/>
          <p:nvPr/>
        </p:nvSpPr>
        <p:spPr>
          <a:xfrm>
            <a:off x="1015008" y="3779401"/>
            <a:ext cx="3772853" cy="127015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Implement live monitoring of vehicle location, speed, fuel levels, and engine diagnostics to provide a comprehensive operational overview.</a:t>
            </a:r>
            <a:endParaRPr lang="en-US" sz="1550" dirty="0"/>
          </a:p>
        </p:txBody>
      </p:sp>
      <p:sp>
        <p:nvSpPr>
          <p:cNvPr id="10" name="Shape 5"/>
          <p:cNvSpPr/>
          <p:nvPr/>
        </p:nvSpPr>
        <p:spPr>
          <a:xfrm>
            <a:off x="5207437" y="2854047"/>
            <a:ext cx="4215408" cy="2416731"/>
          </a:xfrm>
          <a:prstGeom prst="roundRect">
            <a:avLst>
              <a:gd name="adj" fmla="val 4540"/>
            </a:avLst>
          </a:prstGeom>
          <a:solidFill>
            <a:srgbClr val="0D0A2C">
              <a:alpha val="95000"/>
            </a:srgbClr>
          </a:solidFill>
          <a:ln/>
        </p:spPr>
      </p:sp>
      <p:pic>
        <p:nvPicPr>
          <p:cNvPr id="11" name="Image 3" descr="preencoded.png"/>
          <p:cNvPicPr>
            <a:picLocks noChangeAspect="1"/>
          </p:cNvPicPr>
          <p:nvPr/>
        </p:nvPicPr>
        <p:blipFill>
          <a:blip r:embed="rId3"/>
          <a:stretch>
            <a:fillRect/>
          </a:stretch>
        </p:blipFill>
        <p:spPr>
          <a:xfrm>
            <a:off x="5207437" y="2831187"/>
            <a:ext cx="4215408" cy="91440"/>
          </a:xfrm>
          <a:prstGeom prst="rect">
            <a:avLst/>
          </a:prstGeom>
        </p:spPr>
      </p:pic>
      <p:pic>
        <p:nvPicPr>
          <p:cNvPr id="12" name="Image 4" descr="preencoded.png"/>
          <p:cNvPicPr>
            <a:picLocks noChangeAspect="1"/>
          </p:cNvPicPr>
          <p:nvPr/>
        </p:nvPicPr>
        <p:blipFill>
          <a:blip r:embed="rId4"/>
          <a:stretch>
            <a:fillRect/>
          </a:stretch>
        </p:blipFill>
        <p:spPr>
          <a:xfrm>
            <a:off x="7017425" y="2556391"/>
            <a:ext cx="595313" cy="595313"/>
          </a:xfrm>
          <a:prstGeom prst="rect">
            <a:avLst/>
          </a:prstGeom>
        </p:spPr>
      </p:pic>
      <p:pic>
        <p:nvPicPr>
          <p:cNvPr id="13"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6018" y="2734985"/>
            <a:ext cx="238125" cy="238125"/>
          </a:xfrm>
          <a:prstGeom prst="rect">
            <a:avLst/>
          </a:prstGeom>
        </p:spPr>
      </p:pic>
      <p:sp>
        <p:nvSpPr>
          <p:cNvPr id="14" name="Text 6"/>
          <p:cNvSpPr/>
          <p:nvPr/>
        </p:nvSpPr>
        <p:spPr>
          <a:xfrm>
            <a:off x="5428655" y="3350181"/>
            <a:ext cx="3723680"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Predictive Maintenance Alerts</a:t>
            </a:r>
            <a:endParaRPr lang="en-US" sz="1950" dirty="0"/>
          </a:p>
        </p:txBody>
      </p:sp>
      <p:sp>
        <p:nvSpPr>
          <p:cNvPr id="15" name="Text 7"/>
          <p:cNvSpPr/>
          <p:nvPr/>
        </p:nvSpPr>
        <p:spPr>
          <a:xfrm>
            <a:off x="5428655" y="3779401"/>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Develop an  system to anticipate potential mechanical failures, issuing timely alerts to minimize unexpected downtime.</a:t>
            </a:r>
            <a:endParaRPr lang="en-US" sz="1550" dirty="0"/>
          </a:p>
        </p:txBody>
      </p:sp>
      <p:sp>
        <p:nvSpPr>
          <p:cNvPr id="16" name="Shape 8"/>
          <p:cNvSpPr/>
          <p:nvPr/>
        </p:nvSpPr>
        <p:spPr>
          <a:xfrm>
            <a:off x="9621203" y="2854047"/>
            <a:ext cx="4215289" cy="2416731"/>
          </a:xfrm>
          <a:prstGeom prst="roundRect">
            <a:avLst>
              <a:gd name="adj" fmla="val 4540"/>
            </a:avLst>
          </a:prstGeom>
          <a:solidFill>
            <a:srgbClr val="0D0A2C">
              <a:alpha val="95000"/>
            </a:srgbClr>
          </a:solidFill>
          <a:ln/>
        </p:spPr>
      </p:sp>
      <p:pic>
        <p:nvPicPr>
          <p:cNvPr id="17" name="Image 6" descr="preencoded.png"/>
          <p:cNvPicPr>
            <a:picLocks noChangeAspect="1"/>
          </p:cNvPicPr>
          <p:nvPr/>
        </p:nvPicPr>
        <p:blipFill>
          <a:blip r:embed="rId3"/>
          <a:stretch>
            <a:fillRect/>
          </a:stretch>
        </p:blipFill>
        <p:spPr>
          <a:xfrm>
            <a:off x="9621203" y="2831187"/>
            <a:ext cx="4215289" cy="91440"/>
          </a:xfrm>
          <a:prstGeom prst="rect">
            <a:avLst/>
          </a:prstGeom>
        </p:spPr>
      </p:pic>
      <p:pic>
        <p:nvPicPr>
          <p:cNvPr id="18" name="Image 7" descr="preencoded.png"/>
          <p:cNvPicPr>
            <a:picLocks noChangeAspect="1"/>
          </p:cNvPicPr>
          <p:nvPr/>
        </p:nvPicPr>
        <p:blipFill>
          <a:blip r:embed="rId4"/>
          <a:stretch>
            <a:fillRect/>
          </a:stretch>
        </p:blipFill>
        <p:spPr>
          <a:xfrm>
            <a:off x="11431191" y="2556391"/>
            <a:ext cx="595313" cy="595313"/>
          </a:xfrm>
          <a:prstGeom prst="rect">
            <a:avLst/>
          </a:prstGeom>
        </p:spPr>
      </p:pic>
      <p:pic>
        <p:nvPicPr>
          <p:cNvPr id="19"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609784" y="2734985"/>
            <a:ext cx="238125" cy="238125"/>
          </a:xfrm>
          <a:prstGeom prst="rect">
            <a:avLst/>
          </a:prstGeom>
        </p:spPr>
      </p:pic>
      <p:sp>
        <p:nvSpPr>
          <p:cNvPr id="20" name="Text 9"/>
          <p:cNvSpPr/>
          <p:nvPr/>
        </p:nvSpPr>
        <p:spPr>
          <a:xfrm>
            <a:off x="9842421" y="3350181"/>
            <a:ext cx="3036927"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Smart Vehicle Allocation</a:t>
            </a:r>
            <a:endParaRPr lang="en-US" sz="1950" dirty="0"/>
          </a:p>
        </p:txBody>
      </p:sp>
      <p:sp>
        <p:nvSpPr>
          <p:cNvPr id="21" name="Text 10"/>
          <p:cNvSpPr/>
          <p:nvPr/>
        </p:nvSpPr>
        <p:spPr>
          <a:xfrm>
            <a:off x="9842421" y="377940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Optimize vehicle assignments based on real-time demand, availability, and specific job requirements for maximum utilization.</a:t>
            </a:r>
            <a:endParaRPr lang="en-US" sz="1550" dirty="0"/>
          </a:p>
        </p:txBody>
      </p:sp>
      <p:sp>
        <p:nvSpPr>
          <p:cNvPr id="22" name="Shape 11"/>
          <p:cNvSpPr/>
          <p:nvPr/>
        </p:nvSpPr>
        <p:spPr>
          <a:xfrm>
            <a:off x="793790" y="5766792"/>
            <a:ext cx="6422112" cy="1781651"/>
          </a:xfrm>
          <a:prstGeom prst="roundRect">
            <a:avLst>
              <a:gd name="adj" fmla="val 6159"/>
            </a:avLst>
          </a:prstGeom>
          <a:solidFill>
            <a:srgbClr val="0D0A2C">
              <a:alpha val="95000"/>
            </a:srgbClr>
          </a:solidFill>
          <a:ln/>
        </p:spPr>
      </p:sp>
      <p:pic>
        <p:nvPicPr>
          <p:cNvPr id="23" name="Image 9" descr="preencoded.png"/>
          <p:cNvPicPr>
            <a:picLocks noChangeAspect="1"/>
          </p:cNvPicPr>
          <p:nvPr/>
        </p:nvPicPr>
        <p:blipFill>
          <a:blip r:embed="rId11"/>
          <a:stretch>
            <a:fillRect/>
          </a:stretch>
        </p:blipFill>
        <p:spPr>
          <a:xfrm>
            <a:off x="793790" y="5743932"/>
            <a:ext cx="6422112" cy="91440"/>
          </a:xfrm>
          <a:prstGeom prst="rect">
            <a:avLst/>
          </a:prstGeom>
        </p:spPr>
      </p:pic>
      <p:pic>
        <p:nvPicPr>
          <p:cNvPr id="24" name="Image 10" descr="preencoded.png"/>
          <p:cNvPicPr>
            <a:picLocks noChangeAspect="1"/>
          </p:cNvPicPr>
          <p:nvPr/>
        </p:nvPicPr>
        <p:blipFill>
          <a:blip r:embed="rId4"/>
          <a:stretch>
            <a:fillRect/>
          </a:stretch>
        </p:blipFill>
        <p:spPr>
          <a:xfrm>
            <a:off x="3707130" y="5469136"/>
            <a:ext cx="595313" cy="595313"/>
          </a:xfrm>
          <a:prstGeom prst="rect">
            <a:avLst/>
          </a:prstGeom>
        </p:spPr>
      </p:pic>
      <p:pic>
        <p:nvPicPr>
          <p:cNvPr id="25" name="Image 11"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85724" y="5647730"/>
            <a:ext cx="238125" cy="238125"/>
          </a:xfrm>
          <a:prstGeom prst="rect">
            <a:avLst/>
          </a:prstGeom>
        </p:spPr>
      </p:pic>
      <p:sp>
        <p:nvSpPr>
          <p:cNvPr id="26" name="Text 12"/>
          <p:cNvSpPr/>
          <p:nvPr/>
        </p:nvSpPr>
        <p:spPr>
          <a:xfrm>
            <a:off x="1015008" y="6262926"/>
            <a:ext cx="3900726"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Automated Booking Workflows</a:t>
            </a:r>
            <a:endParaRPr lang="en-US" sz="1950" dirty="0"/>
          </a:p>
        </p:txBody>
      </p:sp>
      <p:sp>
        <p:nvSpPr>
          <p:cNvPr id="27" name="Text 13"/>
          <p:cNvSpPr/>
          <p:nvPr/>
        </p:nvSpPr>
        <p:spPr>
          <a:xfrm>
            <a:off x="1015008" y="6692146"/>
            <a:ext cx="5979676"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Streamline the entire booking process from request to confirmation, reducing manual effort and improving response times.</a:t>
            </a:r>
            <a:endParaRPr lang="en-US" sz="1550" dirty="0"/>
          </a:p>
        </p:txBody>
      </p:sp>
      <p:sp>
        <p:nvSpPr>
          <p:cNvPr id="28" name="Shape 14"/>
          <p:cNvSpPr/>
          <p:nvPr/>
        </p:nvSpPr>
        <p:spPr>
          <a:xfrm>
            <a:off x="7414260" y="5766792"/>
            <a:ext cx="6422231" cy="1781651"/>
          </a:xfrm>
          <a:prstGeom prst="roundRect">
            <a:avLst>
              <a:gd name="adj" fmla="val 6159"/>
            </a:avLst>
          </a:prstGeom>
          <a:solidFill>
            <a:srgbClr val="0D0A2C">
              <a:alpha val="95000"/>
            </a:srgbClr>
          </a:solidFill>
          <a:ln/>
        </p:spPr>
      </p:sp>
      <p:pic>
        <p:nvPicPr>
          <p:cNvPr id="29" name="Image 12" descr="preencoded.png"/>
          <p:cNvPicPr>
            <a:picLocks noChangeAspect="1"/>
          </p:cNvPicPr>
          <p:nvPr/>
        </p:nvPicPr>
        <p:blipFill>
          <a:blip r:embed="rId11"/>
          <a:stretch>
            <a:fillRect/>
          </a:stretch>
        </p:blipFill>
        <p:spPr>
          <a:xfrm>
            <a:off x="7414260" y="5743932"/>
            <a:ext cx="6422231" cy="91440"/>
          </a:xfrm>
          <a:prstGeom prst="rect">
            <a:avLst/>
          </a:prstGeom>
        </p:spPr>
      </p:pic>
      <p:pic>
        <p:nvPicPr>
          <p:cNvPr id="30" name="Image 13" descr="preencoded.png"/>
          <p:cNvPicPr>
            <a:picLocks noChangeAspect="1"/>
          </p:cNvPicPr>
          <p:nvPr/>
        </p:nvPicPr>
        <p:blipFill>
          <a:blip r:embed="rId4"/>
          <a:stretch>
            <a:fillRect/>
          </a:stretch>
        </p:blipFill>
        <p:spPr>
          <a:xfrm>
            <a:off x="10327719" y="5469136"/>
            <a:ext cx="595313" cy="595313"/>
          </a:xfrm>
          <a:prstGeom prst="rect">
            <a:avLst/>
          </a:prstGeom>
        </p:spPr>
      </p:pic>
      <p:pic>
        <p:nvPicPr>
          <p:cNvPr id="31" name="Image 14"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506313" y="5647730"/>
            <a:ext cx="238125" cy="238125"/>
          </a:xfrm>
          <a:prstGeom prst="rect">
            <a:avLst/>
          </a:prstGeom>
        </p:spPr>
      </p:pic>
      <p:sp>
        <p:nvSpPr>
          <p:cNvPr id="32" name="Text 15"/>
          <p:cNvSpPr/>
          <p:nvPr/>
        </p:nvSpPr>
        <p:spPr>
          <a:xfrm>
            <a:off x="7635478" y="6262926"/>
            <a:ext cx="3467219"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Admin Analytics Dashboard</a:t>
            </a:r>
            <a:endParaRPr lang="en-US" sz="1950" dirty="0"/>
          </a:p>
        </p:txBody>
      </p:sp>
      <p:sp>
        <p:nvSpPr>
          <p:cNvPr id="33" name="Text 16"/>
          <p:cNvSpPr/>
          <p:nvPr/>
        </p:nvSpPr>
        <p:spPr>
          <a:xfrm>
            <a:off x="7635478" y="6692146"/>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Provide a centralized dashboard with actionable insights into fleet performance, operational efficiency, and key metrics.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00645" y="275392"/>
            <a:ext cx="7647384" cy="312896"/>
          </a:xfrm>
          <a:prstGeom prst="rect">
            <a:avLst/>
          </a:prstGeom>
          <a:noFill/>
          <a:ln/>
        </p:spPr>
        <p:txBody>
          <a:bodyPr wrap="none" lIns="0" tIns="0" rIns="0" bIns="0" rtlCol="0" anchor="t"/>
          <a:lstStyle/>
          <a:p>
            <a:pPr marL="0" indent="0" algn="l">
              <a:lnSpc>
                <a:spcPts val="2450"/>
              </a:lnSpc>
              <a:buNone/>
            </a:pPr>
            <a:r>
              <a:rPr lang="en-US" sz="1950" dirty="0">
                <a:solidFill>
                  <a:srgbClr val="F2F0F4"/>
                </a:solidFill>
                <a:latin typeface="Montserrat" pitchFamily="34" charset="0"/>
                <a:ea typeface="Montserrat" pitchFamily="34" charset="-122"/>
                <a:cs typeface="Montserrat" pitchFamily="34" charset="-120"/>
              </a:rPr>
              <a:t>NeuroFleetX: Core Features for Comprehensive Management</a:t>
            </a:r>
            <a:endParaRPr lang="en-US" sz="1950" dirty="0"/>
          </a:p>
        </p:txBody>
      </p:sp>
      <p:sp>
        <p:nvSpPr>
          <p:cNvPr id="3" name="Text 1"/>
          <p:cNvSpPr/>
          <p:nvPr/>
        </p:nvSpPr>
        <p:spPr>
          <a:xfrm>
            <a:off x="400645" y="788551"/>
            <a:ext cx="13829109" cy="160139"/>
          </a:xfrm>
          <a:prstGeom prst="rect">
            <a:avLst/>
          </a:prstGeom>
          <a:noFill/>
          <a:ln/>
        </p:spPr>
        <p:txBody>
          <a:bodyPr wrap="none" lIns="0" tIns="0" rIns="0" bIns="0" rtlCol="0" anchor="t"/>
          <a:lstStyle/>
          <a:p>
            <a:pPr marL="0" indent="0" algn="l">
              <a:lnSpc>
                <a:spcPts val="1250"/>
              </a:lnSpc>
              <a:buNone/>
            </a:pPr>
            <a:r>
              <a:rPr lang="en-US" sz="1400" dirty="0">
                <a:solidFill>
                  <a:srgbClr val="DCD7E5"/>
                </a:solidFill>
                <a:latin typeface="Heebo Light" pitchFamily="34" charset="0"/>
                <a:ea typeface="Heebo Light" pitchFamily="34" charset="-122"/>
                <a:cs typeface="Heebo Light" pitchFamily="34" charset="-120"/>
              </a:rPr>
              <a:t>NeuroFleetX is designed with a suite of features that provide end-to-end fleet management, from secure access to predictive analytics and operational automation</a:t>
            </a:r>
            <a:r>
              <a:rPr lang="en-US" sz="750" dirty="0">
                <a:solidFill>
                  <a:srgbClr val="DCD7E5"/>
                </a:solidFill>
                <a:latin typeface="Heebo Light" pitchFamily="34" charset="0"/>
                <a:ea typeface="Heebo Light" pitchFamily="34" charset="-122"/>
                <a:cs typeface="Heebo Light" pitchFamily="34" charset="-120"/>
              </a:rPr>
              <a:t>.</a:t>
            </a:r>
            <a:endParaRPr lang="en-US" sz="750" dirty="0"/>
          </a:p>
        </p:txBody>
      </p:sp>
      <p:sp>
        <p:nvSpPr>
          <p:cNvPr id="4" name="Text 2"/>
          <p:cNvSpPr/>
          <p:nvPr/>
        </p:nvSpPr>
        <p:spPr>
          <a:xfrm>
            <a:off x="400645" y="1161455"/>
            <a:ext cx="1694140" cy="156567"/>
          </a:xfrm>
          <a:prstGeom prst="rect">
            <a:avLst/>
          </a:prstGeom>
          <a:noFill/>
          <a:ln/>
        </p:spPr>
        <p:txBody>
          <a:bodyPr wrap="none" lIns="0" tIns="0" rIns="0" bIns="0" rtlCol="0" anchor="t"/>
          <a:lstStyle/>
          <a:p>
            <a:pPr marL="0" indent="0" algn="l">
              <a:lnSpc>
                <a:spcPts val="1200"/>
              </a:lnSpc>
              <a:buNone/>
            </a:pPr>
            <a:r>
              <a:rPr lang="en-US" sz="1600" dirty="0">
                <a:solidFill>
                  <a:srgbClr val="F2F0F4"/>
                </a:solidFill>
                <a:latin typeface="Montserrat" pitchFamily="34" charset="0"/>
                <a:ea typeface="Montserrat" pitchFamily="34" charset="-122"/>
                <a:cs typeface="Montserrat" pitchFamily="34" charset="-120"/>
              </a:rPr>
              <a:t>Role-Based Authentication</a:t>
            </a:r>
            <a:endParaRPr lang="en-US" sz="1600" dirty="0"/>
          </a:p>
        </p:txBody>
      </p:sp>
      <p:sp>
        <p:nvSpPr>
          <p:cNvPr id="5" name="Text 3"/>
          <p:cNvSpPr/>
          <p:nvPr/>
        </p:nvSpPr>
        <p:spPr>
          <a:xfrm>
            <a:off x="400645" y="1418153"/>
            <a:ext cx="6792397" cy="160139"/>
          </a:xfrm>
          <a:prstGeom prst="rect">
            <a:avLst/>
          </a:prstGeom>
          <a:noFill/>
          <a:ln/>
        </p:spPr>
        <p:txBody>
          <a:bodyPr wrap="none" lIns="0" tIns="0" rIns="0" bIns="0" rtlCol="0" anchor="t"/>
          <a:lstStyle/>
          <a:p>
            <a:pPr marL="0" indent="0" algn="l">
              <a:lnSpc>
                <a:spcPts val="1250"/>
              </a:lnSpc>
              <a:buNone/>
            </a:pPr>
            <a:r>
              <a:rPr lang="en-US" sz="1100" dirty="0">
                <a:solidFill>
                  <a:srgbClr val="DCD7E5"/>
                </a:solidFill>
                <a:latin typeface="Heebo Light" pitchFamily="34" charset="0"/>
                <a:ea typeface="Heebo Light" pitchFamily="34" charset="-122"/>
                <a:cs typeface="Heebo Light" pitchFamily="34" charset="-120"/>
              </a:rPr>
              <a:t>Ensures secure access and tailored functionalities for different user roles </a:t>
            </a:r>
          </a:p>
          <a:p>
            <a:pPr marL="0" indent="0" algn="l">
              <a:lnSpc>
                <a:spcPts val="1250"/>
              </a:lnSpc>
              <a:buNone/>
            </a:pPr>
            <a:r>
              <a:rPr lang="en-US" sz="1100" dirty="0">
                <a:solidFill>
                  <a:srgbClr val="DCD7E5"/>
                </a:solidFill>
                <a:latin typeface="Heebo Light" pitchFamily="34" charset="0"/>
                <a:ea typeface="Heebo Light" pitchFamily="34" charset="-122"/>
                <a:cs typeface="Heebo Light" pitchFamily="34" charset="-120"/>
              </a:rPr>
              <a:t>(e.g., admin, customer, maintenance crew).</a:t>
            </a:r>
            <a:endParaRPr lang="en-US" sz="1100" dirty="0"/>
          </a:p>
        </p:txBody>
      </p:sp>
      <p:sp>
        <p:nvSpPr>
          <p:cNvPr id="6" name="Text 4"/>
          <p:cNvSpPr/>
          <p:nvPr/>
        </p:nvSpPr>
        <p:spPr>
          <a:xfrm>
            <a:off x="400645" y="1622107"/>
            <a:ext cx="1828681" cy="156567"/>
          </a:xfrm>
          <a:prstGeom prst="rect">
            <a:avLst/>
          </a:prstGeom>
          <a:noFill/>
          <a:ln/>
        </p:spPr>
        <p:txBody>
          <a:bodyPr wrap="none" lIns="0" tIns="0" rIns="0" bIns="0" rtlCol="0" anchor="t"/>
          <a:lstStyle/>
          <a:p>
            <a:pPr marL="0" indent="0" algn="l">
              <a:lnSpc>
                <a:spcPts val="1200"/>
              </a:lnSpc>
              <a:buNone/>
            </a:pPr>
            <a:endParaRPr lang="en-US" sz="950" dirty="0">
              <a:solidFill>
                <a:srgbClr val="F2F0F4"/>
              </a:solidFill>
              <a:latin typeface="Montserrat" pitchFamily="34" charset="0"/>
              <a:ea typeface="Montserrat" pitchFamily="34" charset="-122"/>
              <a:cs typeface="Montserrat" pitchFamily="34" charset="-120"/>
            </a:endParaRPr>
          </a:p>
          <a:p>
            <a:pPr marL="0" indent="0" algn="l">
              <a:lnSpc>
                <a:spcPts val="1200"/>
              </a:lnSpc>
              <a:buNone/>
            </a:pPr>
            <a:endParaRPr lang="en-US" sz="950" dirty="0">
              <a:solidFill>
                <a:srgbClr val="F2F0F4"/>
              </a:solidFill>
              <a:latin typeface="Montserrat" pitchFamily="34" charset="0"/>
              <a:ea typeface="Montserrat" pitchFamily="34" charset="-122"/>
              <a:cs typeface="Montserrat" pitchFamily="34" charset="-120"/>
            </a:endParaRPr>
          </a:p>
          <a:p>
            <a:pPr marL="0" indent="0" algn="l">
              <a:lnSpc>
                <a:spcPts val="1200"/>
              </a:lnSpc>
              <a:buNone/>
            </a:pPr>
            <a:r>
              <a:rPr lang="en-US" sz="950" dirty="0">
                <a:solidFill>
                  <a:srgbClr val="F2F0F4"/>
                </a:solidFill>
                <a:latin typeface="Montserrat" pitchFamily="34" charset="0"/>
                <a:ea typeface="Montserrat" pitchFamily="34" charset="-122"/>
                <a:cs typeface="Montserrat" pitchFamily="34" charset="-120"/>
              </a:rPr>
              <a:t>Fleet Inventory Management</a:t>
            </a:r>
            <a:endParaRPr lang="en-US" sz="950" dirty="0"/>
          </a:p>
        </p:txBody>
      </p:sp>
      <p:sp>
        <p:nvSpPr>
          <p:cNvPr id="7" name="Text 5"/>
          <p:cNvSpPr/>
          <p:nvPr/>
        </p:nvSpPr>
        <p:spPr>
          <a:xfrm>
            <a:off x="391120" y="1974770"/>
            <a:ext cx="6792397" cy="160139"/>
          </a:xfrm>
          <a:prstGeom prst="rect">
            <a:avLst/>
          </a:prstGeom>
          <a:noFill/>
          <a:ln/>
        </p:spPr>
        <p:txBody>
          <a:bodyPr wrap="none" lIns="0" tIns="0" rIns="0" bIns="0" rtlCol="0" anchor="t"/>
          <a:lstStyle/>
          <a:p>
            <a:pPr marL="0" indent="0" algn="l">
              <a:lnSpc>
                <a:spcPts val="1250"/>
              </a:lnSpc>
              <a:buNone/>
            </a:pPr>
            <a:endParaRPr lang="en-US" sz="750" dirty="0">
              <a:solidFill>
                <a:srgbClr val="DCD7E5"/>
              </a:solidFill>
              <a:latin typeface="Heebo Light" pitchFamily="34" charset="0"/>
              <a:ea typeface="Heebo Light" pitchFamily="34" charset="-122"/>
              <a:cs typeface="Heebo Light" pitchFamily="34" charset="-120"/>
            </a:endParaRPr>
          </a:p>
          <a:p>
            <a:pPr marL="0" indent="0" algn="l">
              <a:lnSpc>
                <a:spcPts val="1250"/>
              </a:lnSpc>
              <a:buNone/>
            </a:pPr>
            <a:r>
              <a:rPr lang="en-US" sz="1200" dirty="0">
                <a:solidFill>
                  <a:srgbClr val="DCD7E5"/>
                </a:solidFill>
                <a:latin typeface="Heebo Light" pitchFamily="34" charset="0"/>
                <a:ea typeface="Heebo Light" pitchFamily="34" charset="-122"/>
                <a:cs typeface="Heebo Light" pitchFamily="34" charset="-120"/>
              </a:rPr>
              <a:t>A centralized system to track every asset, including vehicle details, registration, insurance, </a:t>
            </a:r>
          </a:p>
          <a:p>
            <a:pPr marL="0" indent="0" algn="l">
              <a:lnSpc>
                <a:spcPts val="1250"/>
              </a:lnSpc>
              <a:buNone/>
            </a:pPr>
            <a:r>
              <a:rPr lang="en-US" sz="1200" dirty="0">
                <a:solidFill>
                  <a:srgbClr val="DCD7E5"/>
                </a:solidFill>
                <a:latin typeface="Heebo Light" pitchFamily="34" charset="0"/>
                <a:ea typeface="Heebo Light" pitchFamily="34" charset="-122"/>
                <a:cs typeface="Heebo Light" pitchFamily="34" charset="-120"/>
              </a:rPr>
              <a:t>and maintenance history</a:t>
            </a:r>
            <a:r>
              <a:rPr lang="en-US" sz="750" dirty="0">
                <a:solidFill>
                  <a:srgbClr val="DCD7E5"/>
                </a:solidFill>
                <a:latin typeface="Heebo Light" pitchFamily="34" charset="0"/>
                <a:ea typeface="Heebo Light" pitchFamily="34" charset="-122"/>
                <a:cs typeface="Heebo Light" pitchFamily="34" charset="-120"/>
              </a:rPr>
              <a:t>.</a:t>
            </a:r>
            <a:endParaRPr lang="en-US" sz="750" dirty="0"/>
          </a:p>
        </p:txBody>
      </p:sp>
      <p:sp>
        <p:nvSpPr>
          <p:cNvPr id="8" name="Text 6"/>
          <p:cNvSpPr/>
          <p:nvPr/>
        </p:nvSpPr>
        <p:spPr>
          <a:xfrm>
            <a:off x="400645" y="2195393"/>
            <a:ext cx="1635800" cy="156567"/>
          </a:xfrm>
          <a:prstGeom prst="rect">
            <a:avLst/>
          </a:prstGeom>
          <a:noFill/>
          <a:ln/>
        </p:spPr>
        <p:txBody>
          <a:bodyPr wrap="none" lIns="0" tIns="0" rIns="0" bIns="0" rtlCol="0" anchor="t"/>
          <a:lstStyle/>
          <a:p>
            <a:pPr marL="0" indent="0" algn="l">
              <a:lnSpc>
                <a:spcPts val="1200"/>
              </a:lnSpc>
              <a:buNone/>
            </a:pPr>
            <a:endParaRPr lang="en-US" sz="950" dirty="0">
              <a:solidFill>
                <a:srgbClr val="F2F0F4"/>
              </a:solidFill>
              <a:latin typeface="Montserrat" pitchFamily="34" charset="0"/>
              <a:ea typeface="Montserrat" pitchFamily="34" charset="-122"/>
              <a:cs typeface="Montserrat" pitchFamily="34" charset="-120"/>
            </a:endParaRPr>
          </a:p>
          <a:p>
            <a:pPr marL="0" indent="0" algn="l">
              <a:lnSpc>
                <a:spcPts val="1200"/>
              </a:lnSpc>
              <a:buNone/>
            </a:pPr>
            <a:endParaRPr lang="en-US" sz="950" dirty="0">
              <a:solidFill>
                <a:srgbClr val="F2F0F4"/>
              </a:solidFill>
              <a:latin typeface="Montserrat" pitchFamily="34" charset="0"/>
              <a:ea typeface="Montserrat" pitchFamily="34" charset="-122"/>
              <a:cs typeface="Montserrat" pitchFamily="34" charset="-120"/>
            </a:endParaRPr>
          </a:p>
          <a:p>
            <a:pPr marL="0" indent="0" algn="l">
              <a:lnSpc>
                <a:spcPts val="1200"/>
              </a:lnSpc>
              <a:buNone/>
            </a:pPr>
            <a:r>
              <a:rPr lang="en-US" sz="950" dirty="0">
                <a:solidFill>
                  <a:srgbClr val="F2F0F4"/>
                </a:solidFill>
                <a:latin typeface="Montserrat" pitchFamily="34" charset="0"/>
                <a:ea typeface="Montserrat" pitchFamily="34" charset="-122"/>
                <a:cs typeface="Montserrat" pitchFamily="34" charset="-120"/>
              </a:rPr>
              <a:t>Live Telemetry Monitoring</a:t>
            </a:r>
            <a:endParaRPr lang="en-US" sz="950" dirty="0"/>
          </a:p>
        </p:txBody>
      </p:sp>
      <p:sp>
        <p:nvSpPr>
          <p:cNvPr id="9" name="Text 7"/>
          <p:cNvSpPr/>
          <p:nvPr/>
        </p:nvSpPr>
        <p:spPr>
          <a:xfrm>
            <a:off x="400645" y="2452092"/>
            <a:ext cx="6792397" cy="160139"/>
          </a:xfrm>
          <a:prstGeom prst="rect">
            <a:avLst/>
          </a:prstGeom>
          <a:noFill/>
          <a:ln/>
        </p:spPr>
        <p:txBody>
          <a:bodyPr wrap="none" lIns="0" tIns="0" rIns="0" bIns="0" rtlCol="0" anchor="t"/>
          <a:lstStyle/>
          <a:p>
            <a:pPr marL="0" indent="0" algn="l">
              <a:lnSpc>
                <a:spcPts val="1250"/>
              </a:lnSpc>
              <a:buNone/>
            </a:pPr>
            <a:endParaRPr lang="en-US" sz="750" dirty="0">
              <a:solidFill>
                <a:srgbClr val="DCD7E5"/>
              </a:solidFill>
              <a:latin typeface="Heebo Light" pitchFamily="34" charset="0"/>
              <a:ea typeface="Heebo Light" pitchFamily="34" charset="-122"/>
              <a:cs typeface="Heebo Light" pitchFamily="34" charset="-120"/>
            </a:endParaRPr>
          </a:p>
          <a:p>
            <a:pPr marL="0" indent="0" algn="l">
              <a:lnSpc>
                <a:spcPts val="1250"/>
              </a:lnSpc>
              <a:buNone/>
            </a:pPr>
            <a:endParaRPr lang="en-US" sz="750" dirty="0">
              <a:solidFill>
                <a:srgbClr val="DCD7E5"/>
              </a:solidFill>
              <a:latin typeface="Heebo Light" pitchFamily="34" charset="0"/>
              <a:ea typeface="Heebo Light" pitchFamily="34" charset="-122"/>
              <a:cs typeface="Heebo Light" pitchFamily="34" charset="-120"/>
            </a:endParaRPr>
          </a:p>
          <a:p>
            <a:pPr marL="0" indent="0" algn="l">
              <a:lnSpc>
                <a:spcPts val="1250"/>
              </a:lnSpc>
              <a:buNone/>
            </a:pPr>
            <a:r>
              <a:rPr lang="en-US" sz="1200" dirty="0">
                <a:solidFill>
                  <a:srgbClr val="DCD7E5"/>
                </a:solidFill>
                <a:latin typeface="Heebo Light" pitchFamily="34" charset="0"/>
                <a:ea typeface="Heebo Light" pitchFamily="34" charset="-122"/>
                <a:cs typeface="Heebo Light" pitchFamily="34" charset="-120"/>
              </a:rPr>
              <a:t>Real-time data streams for GPS location, fuel consumption, engine temperature, and </a:t>
            </a:r>
          </a:p>
          <a:p>
            <a:pPr marL="0" indent="0" algn="l">
              <a:lnSpc>
                <a:spcPts val="1250"/>
              </a:lnSpc>
              <a:buNone/>
            </a:pPr>
            <a:r>
              <a:rPr lang="en-US" sz="1200" dirty="0">
                <a:solidFill>
                  <a:srgbClr val="DCD7E5"/>
                </a:solidFill>
                <a:latin typeface="Heebo Light" pitchFamily="34" charset="0"/>
                <a:ea typeface="Heebo Light" pitchFamily="34" charset="-122"/>
                <a:cs typeface="Heebo Light" pitchFamily="34" charset="-120"/>
              </a:rPr>
              <a:t>other vital parameters</a:t>
            </a:r>
            <a:r>
              <a:rPr lang="en-US" sz="750" dirty="0">
                <a:solidFill>
                  <a:srgbClr val="DCD7E5"/>
                </a:solidFill>
                <a:latin typeface="Heebo Light" pitchFamily="34" charset="0"/>
                <a:ea typeface="Heebo Light" pitchFamily="34" charset="-122"/>
                <a:cs typeface="Heebo Light" pitchFamily="34" charset="-120"/>
              </a:rPr>
              <a:t>.</a:t>
            </a:r>
            <a:endParaRPr lang="en-US" sz="750" dirty="0"/>
          </a:p>
        </p:txBody>
      </p:sp>
      <p:pic>
        <p:nvPicPr>
          <p:cNvPr id="10" name="Image 0" descr="preencoded.png"/>
          <p:cNvPicPr>
            <a:picLocks noChangeAspect="1"/>
          </p:cNvPicPr>
          <p:nvPr/>
        </p:nvPicPr>
        <p:blipFill>
          <a:blip r:embed="rId3"/>
          <a:stretch>
            <a:fillRect/>
          </a:stretch>
        </p:blipFill>
        <p:spPr>
          <a:xfrm>
            <a:off x="734020" y="3332262"/>
            <a:ext cx="4504729" cy="4504729"/>
          </a:xfrm>
          <a:prstGeom prst="rect">
            <a:avLst/>
          </a:prstGeom>
        </p:spPr>
      </p:pic>
      <p:sp>
        <p:nvSpPr>
          <p:cNvPr id="11" name="Text 8"/>
          <p:cNvSpPr/>
          <p:nvPr/>
        </p:nvSpPr>
        <p:spPr>
          <a:xfrm>
            <a:off x="7444978" y="1161455"/>
            <a:ext cx="1885831" cy="156567"/>
          </a:xfrm>
          <a:prstGeom prst="rect">
            <a:avLst/>
          </a:prstGeom>
          <a:noFill/>
          <a:ln/>
        </p:spPr>
        <p:txBody>
          <a:bodyPr wrap="none" lIns="0" tIns="0" rIns="0" bIns="0" rtlCol="0" anchor="t"/>
          <a:lstStyle/>
          <a:p>
            <a:pPr marL="0" indent="0" algn="l">
              <a:lnSpc>
                <a:spcPts val="1200"/>
              </a:lnSpc>
              <a:buNone/>
            </a:pPr>
            <a:r>
              <a:rPr lang="en-US" sz="950" dirty="0">
                <a:solidFill>
                  <a:srgbClr val="F2F0F4"/>
                </a:solidFill>
                <a:latin typeface="Montserrat" pitchFamily="34" charset="0"/>
                <a:ea typeface="Montserrat" pitchFamily="34" charset="-122"/>
                <a:cs typeface="Montserrat" pitchFamily="34" charset="-120"/>
              </a:rPr>
              <a:t>Predictive Risk Scoring (0-100)</a:t>
            </a:r>
            <a:endParaRPr lang="en-US" sz="950" dirty="0"/>
          </a:p>
        </p:txBody>
      </p:sp>
      <p:sp>
        <p:nvSpPr>
          <p:cNvPr id="12" name="Text 9"/>
          <p:cNvSpPr/>
          <p:nvPr/>
        </p:nvSpPr>
        <p:spPr>
          <a:xfrm>
            <a:off x="7444978" y="1418153"/>
            <a:ext cx="6792397" cy="160139"/>
          </a:xfrm>
          <a:prstGeom prst="rect">
            <a:avLst/>
          </a:prstGeom>
          <a:noFill/>
          <a:ln/>
        </p:spPr>
        <p:txBody>
          <a:bodyPr wrap="none" lIns="0" tIns="0" rIns="0" bIns="0" rtlCol="0" anchor="t"/>
          <a:lstStyle/>
          <a:p>
            <a:pPr marL="0" indent="0" algn="l">
              <a:lnSpc>
                <a:spcPts val="1250"/>
              </a:lnSpc>
              <a:buNone/>
            </a:pPr>
            <a:r>
              <a:rPr lang="en-US" sz="1100" dirty="0">
                <a:solidFill>
                  <a:srgbClr val="DCD7E5"/>
                </a:solidFill>
                <a:latin typeface="Heebo Light" pitchFamily="34" charset="0"/>
                <a:ea typeface="Heebo Light" pitchFamily="34" charset="-122"/>
                <a:cs typeface="Heebo Light" pitchFamily="34" charset="-120"/>
              </a:rPr>
              <a:t>An engine assesses vehicle health and operational risks, providing a score to prioritize maintenance </a:t>
            </a:r>
          </a:p>
          <a:p>
            <a:pPr marL="0" indent="0" algn="l">
              <a:lnSpc>
                <a:spcPts val="1250"/>
              </a:lnSpc>
              <a:buNone/>
            </a:pPr>
            <a:r>
              <a:rPr lang="en-US" sz="1100" dirty="0">
                <a:solidFill>
                  <a:srgbClr val="DCD7E5"/>
                </a:solidFill>
                <a:latin typeface="Heebo Light" pitchFamily="34" charset="0"/>
                <a:ea typeface="Heebo Light" pitchFamily="34" charset="-122"/>
                <a:cs typeface="Heebo Light" pitchFamily="34" charset="-120"/>
              </a:rPr>
              <a:t>and interventions.</a:t>
            </a:r>
            <a:endParaRPr lang="en-US" sz="1100" dirty="0"/>
          </a:p>
        </p:txBody>
      </p:sp>
      <p:sp>
        <p:nvSpPr>
          <p:cNvPr id="13" name="Text 10"/>
          <p:cNvSpPr/>
          <p:nvPr/>
        </p:nvSpPr>
        <p:spPr>
          <a:xfrm>
            <a:off x="7437356" y="1792471"/>
            <a:ext cx="2024658" cy="156567"/>
          </a:xfrm>
          <a:prstGeom prst="rect">
            <a:avLst/>
          </a:prstGeom>
          <a:noFill/>
          <a:ln/>
        </p:spPr>
        <p:txBody>
          <a:bodyPr wrap="none" lIns="0" tIns="0" rIns="0" bIns="0" rtlCol="0" anchor="t"/>
          <a:lstStyle/>
          <a:p>
            <a:pPr marL="0" indent="0" algn="l">
              <a:lnSpc>
                <a:spcPts val="1200"/>
              </a:lnSpc>
              <a:buNone/>
            </a:pPr>
            <a:r>
              <a:rPr lang="en-US" sz="950" dirty="0">
                <a:solidFill>
                  <a:srgbClr val="F2F0F4"/>
                </a:solidFill>
                <a:latin typeface="Montserrat" pitchFamily="34" charset="0"/>
                <a:ea typeface="Montserrat" pitchFamily="34" charset="-122"/>
                <a:cs typeface="Montserrat" pitchFamily="34" charset="-120"/>
              </a:rPr>
              <a:t>Booking &amp; Dispatch Automation</a:t>
            </a:r>
            <a:endParaRPr lang="en-US" sz="950" dirty="0"/>
          </a:p>
        </p:txBody>
      </p:sp>
      <p:sp>
        <p:nvSpPr>
          <p:cNvPr id="14" name="Text 11"/>
          <p:cNvSpPr/>
          <p:nvPr/>
        </p:nvSpPr>
        <p:spPr>
          <a:xfrm>
            <a:off x="7437356" y="2011619"/>
            <a:ext cx="6792397" cy="160139"/>
          </a:xfrm>
          <a:prstGeom prst="rect">
            <a:avLst/>
          </a:prstGeom>
          <a:noFill/>
          <a:ln/>
        </p:spPr>
        <p:txBody>
          <a:bodyPr wrap="none" lIns="0" tIns="0" rIns="0" bIns="0" rtlCol="0" anchor="t"/>
          <a:lstStyle/>
          <a:p>
            <a:pPr marL="0" indent="0" algn="l">
              <a:lnSpc>
                <a:spcPts val="1250"/>
              </a:lnSpc>
              <a:buNone/>
            </a:pPr>
            <a:r>
              <a:rPr lang="en-US" sz="1100" dirty="0">
                <a:solidFill>
                  <a:srgbClr val="DCD7E5"/>
                </a:solidFill>
                <a:latin typeface="Heebo Light" pitchFamily="34" charset="0"/>
                <a:ea typeface="Heebo Light" pitchFamily="34" charset="-122"/>
                <a:cs typeface="Heebo Light" pitchFamily="34" charset="-120"/>
              </a:rPr>
              <a:t>Automated assignment of vehicles to requests, optimizing routes and schedules based on availability </a:t>
            </a:r>
          </a:p>
          <a:p>
            <a:pPr marL="0" indent="0" algn="l">
              <a:lnSpc>
                <a:spcPts val="1250"/>
              </a:lnSpc>
              <a:buNone/>
            </a:pPr>
            <a:r>
              <a:rPr lang="en-US" sz="1100" dirty="0">
                <a:solidFill>
                  <a:srgbClr val="DCD7E5"/>
                </a:solidFill>
                <a:latin typeface="Heebo Light" pitchFamily="34" charset="0"/>
                <a:ea typeface="Heebo Light" pitchFamily="34" charset="-122"/>
                <a:cs typeface="Heebo Light" pitchFamily="34" charset="-120"/>
              </a:rPr>
              <a:t>and urgency</a:t>
            </a:r>
            <a:r>
              <a:rPr lang="en-US" sz="750" dirty="0">
                <a:solidFill>
                  <a:srgbClr val="DCD7E5"/>
                </a:solidFill>
                <a:latin typeface="Heebo Light" pitchFamily="34" charset="0"/>
                <a:ea typeface="Heebo Light" pitchFamily="34" charset="-122"/>
                <a:cs typeface="Heebo Light" pitchFamily="34" charset="-120"/>
              </a:rPr>
              <a:t>.</a:t>
            </a:r>
            <a:endParaRPr lang="en-US" sz="750" dirty="0"/>
          </a:p>
        </p:txBody>
      </p:sp>
      <p:sp>
        <p:nvSpPr>
          <p:cNvPr id="15" name="Text 12"/>
          <p:cNvSpPr/>
          <p:nvPr/>
        </p:nvSpPr>
        <p:spPr>
          <a:xfrm>
            <a:off x="7437357" y="2508527"/>
            <a:ext cx="1802844" cy="156567"/>
          </a:xfrm>
          <a:prstGeom prst="rect">
            <a:avLst/>
          </a:prstGeom>
          <a:noFill/>
          <a:ln/>
        </p:spPr>
        <p:txBody>
          <a:bodyPr wrap="none" lIns="0" tIns="0" rIns="0" bIns="0" rtlCol="0" anchor="t"/>
          <a:lstStyle/>
          <a:p>
            <a:pPr marL="0" indent="0" algn="l">
              <a:lnSpc>
                <a:spcPts val="1200"/>
              </a:lnSpc>
              <a:buNone/>
            </a:pPr>
            <a:r>
              <a:rPr lang="en-US" sz="950" dirty="0">
                <a:solidFill>
                  <a:srgbClr val="F2F0F4"/>
                </a:solidFill>
                <a:latin typeface="Montserrat" pitchFamily="34" charset="0"/>
                <a:ea typeface="Montserrat" pitchFamily="34" charset="-122"/>
                <a:cs typeface="Montserrat" pitchFamily="34" charset="-120"/>
              </a:rPr>
              <a:t>Admin Performance Reports</a:t>
            </a:r>
            <a:endParaRPr lang="en-US" sz="950" dirty="0"/>
          </a:p>
        </p:txBody>
      </p:sp>
      <p:sp>
        <p:nvSpPr>
          <p:cNvPr id="16" name="Text 13"/>
          <p:cNvSpPr/>
          <p:nvPr/>
        </p:nvSpPr>
        <p:spPr>
          <a:xfrm>
            <a:off x="7437357" y="2807821"/>
            <a:ext cx="6792397" cy="160139"/>
          </a:xfrm>
          <a:prstGeom prst="rect">
            <a:avLst/>
          </a:prstGeom>
          <a:noFill/>
          <a:ln/>
        </p:spPr>
        <p:txBody>
          <a:bodyPr wrap="none" lIns="0" tIns="0" rIns="0" bIns="0" rtlCol="0" anchor="t"/>
          <a:lstStyle/>
          <a:p>
            <a:pPr marL="0" indent="0" algn="l">
              <a:lnSpc>
                <a:spcPts val="1250"/>
              </a:lnSpc>
              <a:buNone/>
            </a:pPr>
            <a:r>
              <a:rPr lang="en-US" sz="1200" dirty="0">
                <a:solidFill>
                  <a:srgbClr val="DCD7E5"/>
                </a:solidFill>
                <a:latin typeface="Heebo Light" pitchFamily="34" charset="0"/>
                <a:ea typeface="Heebo Light" pitchFamily="34" charset="-122"/>
                <a:cs typeface="Heebo Light" pitchFamily="34" charset="-120"/>
              </a:rPr>
              <a:t>Detailed reports and visualizations on fleet utilization, fuel efficiency, maintenance costs, </a:t>
            </a:r>
          </a:p>
          <a:p>
            <a:pPr marL="0" indent="0" algn="l">
              <a:lnSpc>
                <a:spcPts val="1250"/>
              </a:lnSpc>
              <a:buNone/>
            </a:pPr>
            <a:r>
              <a:rPr lang="en-US" sz="1200" dirty="0">
                <a:solidFill>
                  <a:srgbClr val="DCD7E5"/>
                </a:solidFill>
                <a:latin typeface="Heebo Light" pitchFamily="34" charset="0"/>
                <a:ea typeface="Heebo Light" pitchFamily="34" charset="-122"/>
                <a:cs typeface="Heebo Light" pitchFamily="34" charset="-120"/>
              </a:rPr>
              <a:t>and overall operational performance</a:t>
            </a:r>
            <a:r>
              <a:rPr lang="en-US" sz="750" dirty="0">
                <a:solidFill>
                  <a:srgbClr val="DCD7E5"/>
                </a:solidFill>
                <a:latin typeface="Heebo Light" pitchFamily="34" charset="0"/>
                <a:ea typeface="Heebo Light" pitchFamily="34" charset="-122"/>
                <a:cs typeface="Heebo Light" pitchFamily="34" charset="-120"/>
              </a:rPr>
              <a:t>.</a:t>
            </a:r>
            <a:endParaRPr lang="en-US" sz="750" dirty="0"/>
          </a:p>
        </p:txBody>
      </p:sp>
      <p:pic>
        <p:nvPicPr>
          <p:cNvPr id="17" name="Image 1" descr="preencoded.png"/>
          <p:cNvPicPr>
            <a:picLocks noChangeAspect="1"/>
          </p:cNvPicPr>
          <p:nvPr/>
        </p:nvPicPr>
        <p:blipFill>
          <a:blip r:embed="rId4"/>
          <a:stretch>
            <a:fillRect/>
          </a:stretch>
        </p:blipFill>
        <p:spPr>
          <a:xfrm>
            <a:off x="7587854" y="3401287"/>
            <a:ext cx="4346972" cy="43469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169B50-E759-EF84-B84C-6B178F6F80A7}"/>
              </a:ext>
            </a:extLst>
          </p:cNvPr>
          <p:cNvPicPr>
            <a:picLocks noChangeAspect="1"/>
          </p:cNvPicPr>
          <p:nvPr/>
        </p:nvPicPr>
        <p:blipFill>
          <a:blip r:embed="rId2"/>
          <a:stretch>
            <a:fillRect/>
          </a:stretch>
        </p:blipFill>
        <p:spPr>
          <a:xfrm>
            <a:off x="545744" y="383875"/>
            <a:ext cx="5684183" cy="3240044"/>
          </a:xfrm>
          <a:prstGeom prst="rect">
            <a:avLst/>
          </a:prstGeom>
        </p:spPr>
      </p:pic>
      <p:pic>
        <p:nvPicPr>
          <p:cNvPr id="5" name="Picture 4">
            <a:extLst>
              <a:ext uri="{FF2B5EF4-FFF2-40B4-BE49-F238E27FC236}">
                <a16:creationId xmlns:a16="http://schemas.microsoft.com/office/drawing/2014/main" id="{AC4A4E97-FEC5-ABAA-CA69-16ED68A23D34}"/>
              </a:ext>
            </a:extLst>
          </p:cNvPr>
          <p:cNvPicPr>
            <a:picLocks noChangeAspect="1"/>
          </p:cNvPicPr>
          <p:nvPr/>
        </p:nvPicPr>
        <p:blipFill>
          <a:blip r:embed="rId3"/>
          <a:stretch>
            <a:fillRect/>
          </a:stretch>
        </p:blipFill>
        <p:spPr>
          <a:xfrm>
            <a:off x="7016080" y="320279"/>
            <a:ext cx="5925964" cy="3367237"/>
          </a:xfrm>
          <a:prstGeom prst="rect">
            <a:avLst/>
          </a:prstGeom>
        </p:spPr>
      </p:pic>
      <p:pic>
        <p:nvPicPr>
          <p:cNvPr id="7" name="Picture 6">
            <a:extLst>
              <a:ext uri="{FF2B5EF4-FFF2-40B4-BE49-F238E27FC236}">
                <a16:creationId xmlns:a16="http://schemas.microsoft.com/office/drawing/2014/main" id="{4F13EDC3-FC9F-9F80-CA8C-FACE86B3BCFA}"/>
              </a:ext>
            </a:extLst>
          </p:cNvPr>
          <p:cNvPicPr>
            <a:picLocks noChangeAspect="1"/>
          </p:cNvPicPr>
          <p:nvPr/>
        </p:nvPicPr>
        <p:blipFill>
          <a:blip r:embed="rId4"/>
          <a:stretch>
            <a:fillRect/>
          </a:stretch>
        </p:blipFill>
        <p:spPr>
          <a:xfrm>
            <a:off x="657314" y="4149603"/>
            <a:ext cx="5684183" cy="3223511"/>
          </a:xfrm>
          <a:prstGeom prst="rect">
            <a:avLst/>
          </a:prstGeom>
        </p:spPr>
      </p:pic>
      <p:pic>
        <p:nvPicPr>
          <p:cNvPr id="9" name="Picture 8">
            <a:extLst>
              <a:ext uri="{FF2B5EF4-FFF2-40B4-BE49-F238E27FC236}">
                <a16:creationId xmlns:a16="http://schemas.microsoft.com/office/drawing/2014/main" id="{68762231-2A59-5DCE-1F22-5E93C3C32215}"/>
              </a:ext>
            </a:extLst>
          </p:cNvPr>
          <p:cNvPicPr>
            <a:picLocks noChangeAspect="1"/>
          </p:cNvPicPr>
          <p:nvPr/>
        </p:nvPicPr>
        <p:blipFill>
          <a:blip r:embed="rId5"/>
          <a:stretch>
            <a:fillRect/>
          </a:stretch>
        </p:blipFill>
        <p:spPr>
          <a:xfrm>
            <a:off x="7016080" y="4114800"/>
            <a:ext cx="6058583" cy="3448050"/>
          </a:xfrm>
          <a:prstGeom prst="rect">
            <a:avLst/>
          </a:prstGeom>
        </p:spPr>
      </p:pic>
    </p:spTree>
    <p:extLst>
      <p:ext uri="{BB962C8B-B14F-4D97-AF65-F5344CB8AC3E}">
        <p14:creationId xmlns:p14="http://schemas.microsoft.com/office/powerpoint/2010/main" val="1824100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AFCA22-8F1A-E339-1244-973A1005CD57}"/>
              </a:ext>
            </a:extLst>
          </p:cNvPr>
          <p:cNvPicPr>
            <a:picLocks noChangeAspect="1"/>
          </p:cNvPicPr>
          <p:nvPr/>
        </p:nvPicPr>
        <p:blipFill>
          <a:blip r:embed="rId2"/>
          <a:stretch>
            <a:fillRect/>
          </a:stretch>
        </p:blipFill>
        <p:spPr>
          <a:xfrm>
            <a:off x="496313" y="282323"/>
            <a:ext cx="6267905" cy="3579779"/>
          </a:xfrm>
          <a:prstGeom prst="rect">
            <a:avLst/>
          </a:prstGeom>
        </p:spPr>
      </p:pic>
      <p:pic>
        <p:nvPicPr>
          <p:cNvPr id="5" name="Picture 4">
            <a:extLst>
              <a:ext uri="{FF2B5EF4-FFF2-40B4-BE49-F238E27FC236}">
                <a16:creationId xmlns:a16="http://schemas.microsoft.com/office/drawing/2014/main" id="{8AAC2A96-2D37-F7D8-7F4C-15EA21FC04C6}"/>
              </a:ext>
            </a:extLst>
          </p:cNvPr>
          <p:cNvPicPr>
            <a:picLocks noChangeAspect="1"/>
          </p:cNvPicPr>
          <p:nvPr/>
        </p:nvPicPr>
        <p:blipFill>
          <a:blip r:embed="rId3"/>
          <a:stretch>
            <a:fillRect/>
          </a:stretch>
        </p:blipFill>
        <p:spPr>
          <a:xfrm>
            <a:off x="7064106" y="282323"/>
            <a:ext cx="5953326" cy="3390781"/>
          </a:xfrm>
          <a:prstGeom prst="rect">
            <a:avLst/>
          </a:prstGeom>
        </p:spPr>
      </p:pic>
      <p:pic>
        <p:nvPicPr>
          <p:cNvPr id="7" name="Picture 6">
            <a:extLst>
              <a:ext uri="{FF2B5EF4-FFF2-40B4-BE49-F238E27FC236}">
                <a16:creationId xmlns:a16="http://schemas.microsoft.com/office/drawing/2014/main" id="{93FEEFDB-ABEB-AF3D-422F-229FBE9B9F29}"/>
              </a:ext>
            </a:extLst>
          </p:cNvPr>
          <p:cNvPicPr>
            <a:picLocks noChangeAspect="1"/>
          </p:cNvPicPr>
          <p:nvPr/>
        </p:nvPicPr>
        <p:blipFill>
          <a:blip r:embed="rId4"/>
          <a:stretch>
            <a:fillRect/>
          </a:stretch>
        </p:blipFill>
        <p:spPr>
          <a:xfrm>
            <a:off x="474175" y="4178499"/>
            <a:ext cx="6290043" cy="3579779"/>
          </a:xfrm>
          <a:prstGeom prst="rect">
            <a:avLst/>
          </a:prstGeom>
        </p:spPr>
      </p:pic>
      <p:pic>
        <p:nvPicPr>
          <p:cNvPr id="9" name="Picture 8">
            <a:extLst>
              <a:ext uri="{FF2B5EF4-FFF2-40B4-BE49-F238E27FC236}">
                <a16:creationId xmlns:a16="http://schemas.microsoft.com/office/drawing/2014/main" id="{144DDF1A-080C-507B-662C-88060323E26F}"/>
              </a:ext>
            </a:extLst>
          </p:cNvPr>
          <p:cNvPicPr>
            <a:picLocks noChangeAspect="1"/>
          </p:cNvPicPr>
          <p:nvPr/>
        </p:nvPicPr>
        <p:blipFill>
          <a:blip r:embed="rId5"/>
          <a:stretch>
            <a:fillRect/>
          </a:stretch>
        </p:blipFill>
        <p:spPr>
          <a:xfrm>
            <a:off x="7241866" y="4114800"/>
            <a:ext cx="6216709" cy="3505200"/>
          </a:xfrm>
          <a:prstGeom prst="rect">
            <a:avLst/>
          </a:prstGeom>
        </p:spPr>
      </p:pic>
    </p:spTree>
    <p:extLst>
      <p:ext uri="{BB962C8B-B14F-4D97-AF65-F5344CB8AC3E}">
        <p14:creationId xmlns:p14="http://schemas.microsoft.com/office/powerpoint/2010/main" val="198760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328857"/>
          </a:xfrm>
          <a:prstGeom prst="rect">
            <a:avLst/>
          </a:prstGeom>
        </p:spPr>
      </p:pic>
      <p:sp>
        <p:nvSpPr>
          <p:cNvPr id="3" name="Text 0"/>
          <p:cNvSpPr/>
          <p:nvPr/>
        </p:nvSpPr>
        <p:spPr>
          <a:xfrm>
            <a:off x="425172" y="1621155"/>
            <a:ext cx="5805368" cy="332184"/>
          </a:xfrm>
          <a:prstGeom prst="rect">
            <a:avLst/>
          </a:prstGeom>
          <a:noFill/>
          <a:ln/>
        </p:spPr>
        <p:txBody>
          <a:bodyPr wrap="none" lIns="0" tIns="0" rIns="0" bIns="0" rtlCol="0" anchor="t"/>
          <a:lstStyle/>
          <a:p>
            <a:pPr marL="0" indent="0" algn="l">
              <a:lnSpc>
                <a:spcPts val="2600"/>
              </a:lnSpc>
              <a:buNone/>
            </a:pPr>
            <a:r>
              <a:rPr lang="en-US" sz="1600" dirty="0">
                <a:solidFill>
                  <a:srgbClr val="F2F0F4"/>
                </a:solidFill>
                <a:latin typeface="Montserrat" pitchFamily="34" charset="0"/>
                <a:ea typeface="Montserrat" pitchFamily="34" charset="-122"/>
                <a:cs typeface="Montserrat" pitchFamily="34" charset="-120"/>
              </a:rPr>
              <a:t>NeuroFleetX: System Architecture Overview</a:t>
            </a:r>
            <a:endParaRPr lang="en-US" sz="1600" dirty="0"/>
          </a:p>
        </p:txBody>
      </p:sp>
      <p:sp>
        <p:nvSpPr>
          <p:cNvPr id="4" name="Text 1"/>
          <p:cNvSpPr/>
          <p:nvPr/>
        </p:nvSpPr>
        <p:spPr>
          <a:xfrm>
            <a:off x="358497" y="2080163"/>
            <a:ext cx="13780056" cy="170021"/>
          </a:xfrm>
          <a:prstGeom prst="rect">
            <a:avLst/>
          </a:prstGeom>
          <a:noFill/>
          <a:ln/>
        </p:spPr>
        <p:txBody>
          <a:bodyPr wrap="none" lIns="0" tIns="0" rIns="0" bIns="0" rtlCol="0" anchor="t"/>
          <a:lstStyle/>
          <a:p>
            <a:pPr marL="0" indent="0" algn="l">
              <a:lnSpc>
                <a:spcPts val="1300"/>
              </a:lnSpc>
              <a:buNone/>
            </a:pPr>
            <a:r>
              <a:rPr lang="en-US" sz="1400" dirty="0">
                <a:solidFill>
                  <a:srgbClr val="DCD7E5"/>
                </a:solidFill>
                <a:latin typeface="Heebo Light" pitchFamily="34" charset="0"/>
                <a:ea typeface="Heebo Light" pitchFamily="34" charset="-122"/>
                <a:cs typeface="Heebo Light" pitchFamily="34" charset="-120"/>
              </a:rPr>
              <a:t>The NeuroFleetX architecture is designed for modularity, scalability, and seamless integration between its various components, ensuring a robust and efficient system.</a:t>
            </a:r>
            <a:endParaRPr lang="en-US" sz="1400" dirty="0"/>
          </a:p>
        </p:txBody>
      </p:sp>
      <p:pic>
        <p:nvPicPr>
          <p:cNvPr id="5" name="Image 1" descr="preencoded.png"/>
          <p:cNvPicPr>
            <a:picLocks noChangeAspect="1"/>
          </p:cNvPicPr>
          <p:nvPr/>
        </p:nvPicPr>
        <p:blipFill>
          <a:blip r:embed="rId4"/>
          <a:stretch>
            <a:fillRect/>
          </a:stretch>
        </p:blipFill>
        <p:spPr>
          <a:xfrm>
            <a:off x="3107441" y="2391319"/>
            <a:ext cx="7181976" cy="5701155"/>
          </a:xfrm>
          <a:prstGeom prst="rect">
            <a:avLst/>
          </a:prstGeom>
        </p:spPr>
      </p:pic>
      <p:sp>
        <p:nvSpPr>
          <p:cNvPr id="6" name="Text 2"/>
          <p:cNvSpPr/>
          <p:nvPr/>
        </p:nvSpPr>
        <p:spPr>
          <a:xfrm>
            <a:off x="5850973" y="5017962"/>
            <a:ext cx="1694912" cy="775112"/>
          </a:xfrm>
          <a:prstGeom prst="rect">
            <a:avLst/>
          </a:prstGeom>
          <a:noFill/>
          <a:ln/>
        </p:spPr>
        <p:txBody>
          <a:bodyPr wrap="square" lIns="0" tIns="0" rIns="0" bIns="0" rtlCol="0" anchor="t"/>
          <a:lstStyle/>
          <a:p>
            <a:pPr marL="0" indent="0" algn="ctr">
              <a:lnSpc>
                <a:spcPts val="1650"/>
              </a:lnSpc>
              <a:buNone/>
            </a:pPr>
            <a:r>
              <a:rPr lang="en-US" sz="1350" dirty="0">
                <a:solidFill>
                  <a:srgbClr val="FFFFFF"/>
                </a:solidFill>
                <a:latin typeface="Montserrat" pitchFamily="34" charset="0"/>
                <a:ea typeface="Montserrat" pitchFamily="34" charset="-122"/>
                <a:cs typeface="Montserrat" pitchFamily="34" charset="-120"/>
              </a:rPr>
              <a:t>NeuroFleetX</a:t>
            </a:r>
            <a:endParaRPr lang="en-US" sz="1350" dirty="0"/>
          </a:p>
        </p:txBody>
      </p:sp>
      <p:sp>
        <p:nvSpPr>
          <p:cNvPr id="7" name="Text 3"/>
          <p:cNvSpPr/>
          <p:nvPr/>
        </p:nvSpPr>
        <p:spPr>
          <a:xfrm>
            <a:off x="6928389" y="2914126"/>
            <a:ext cx="2521483" cy="387556"/>
          </a:xfrm>
          <a:prstGeom prst="rect">
            <a:avLst/>
          </a:prstGeom>
          <a:noFill/>
          <a:ln/>
        </p:spPr>
        <p:txBody>
          <a:bodyPr wrap="none" lIns="0" tIns="0" rIns="0" bIns="0" rtlCol="0" anchor="t"/>
          <a:lstStyle/>
          <a:p>
            <a:pPr marL="0" indent="0" algn="ctr">
              <a:lnSpc>
                <a:spcPts val="1650"/>
              </a:lnSpc>
              <a:buNone/>
            </a:pPr>
            <a:r>
              <a:rPr lang="en-US" sz="1350" dirty="0">
                <a:solidFill>
                  <a:srgbClr val="DCD7E5"/>
                </a:solidFill>
                <a:latin typeface="Montserrat" pitchFamily="34" charset="0"/>
                <a:ea typeface="Montserrat" pitchFamily="34" charset="-122"/>
                <a:cs typeface="Montserrat" pitchFamily="34" charset="-120"/>
              </a:rPr>
              <a:t>User Interface</a:t>
            </a:r>
            <a:endParaRPr lang="en-US" sz="1350" dirty="0"/>
          </a:p>
        </p:txBody>
      </p:sp>
      <p:sp>
        <p:nvSpPr>
          <p:cNvPr id="8" name="Text 4"/>
          <p:cNvSpPr/>
          <p:nvPr/>
        </p:nvSpPr>
        <p:spPr>
          <a:xfrm>
            <a:off x="6861876" y="3453519"/>
            <a:ext cx="2521483" cy="310045"/>
          </a:xfrm>
          <a:prstGeom prst="rect">
            <a:avLst/>
          </a:prstGeom>
          <a:noFill/>
          <a:ln/>
        </p:spPr>
        <p:txBody>
          <a:bodyPr wrap="none" lIns="0" tIns="0" rIns="0" bIns="0" rtlCol="0" anchor="t"/>
          <a:lstStyle/>
          <a:p>
            <a:pPr marL="0" indent="0" algn="ctr">
              <a:lnSpc>
                <a:spcPts val="1350"/>
              </a:lnSpc>
              <a:buNone/>
            </a:pPr>
            <a:r>
              <a:rPr lang="en-US" sz="1050" dirty="0">
                <a:solidFill>
                  <a:srgbClr val="DCD7E5"/>
                </a:solidFill>
                <a:latin typeface="Heebo Light" pitchFamily="34" charset="0"/>
                <a:ea typeface="Heebo Light" pitchFamily="34" charset="-122"/>
                <a:cs typeface="Heebo Light" pitchFamily="34" charset="-120"/>
              </a:rPr>
              <a:t>React frontend</a:t>
            </a:r>
            <a:endParaRPr lang="en-US" sz="1050" dirty="0"/>
          </a:p>
        </p:txBody>
      </p:sp>
      <p:sp>
        <p:nvSpPr>
          <p:cNvPr id="9" name="Text 5"/>
          <p:cNvSpPr/>
          <p:nvPr/>
        </p:nvSpPr>
        <p:spPr>
          <a:xfrm>
            <a:off x="3919788" y="3082138"/>
            <a:ext cx="2521483" cy="775112"/>
          </a:xfrm>
          <a:prstGeom prst="rect">
            <a:avLst/>
          </a:prstGeom>
          <a:noFill/>
          <a:ln/>
        </p:spPr>
        <p:txBody>
          <a:bodyPr wrap="square" lIns="0" tIns="0" rIns="0" bIns="0" rtlCol="0" anchor="t"/>
          <a:lstStyle/>
          <a:p>
            <a:pPr marL="0" indent="0" algn="ctr">
              <a:lnSpc>
                <a:spcPts val="1650"/>
              </a:lnSpc>
              <a:buNone/>
            </a:pPr>
            <a:r>
              <a:rPr lang="en-US" sz="1350" dirty="0">
                <a:solidFill>
                  <a:srgbClr val="DCD7E5"/>
                </a:solidFill>
                <a:latin typeface="Montserrat" pitchFamily="34" charset="0"/>
                <a:ea typeface="Montserrat" pitchFamily="34" charset="-122"/>
                <a:cs typeface="Montserrat" pitchFamily="34" charset="-120"/>
              </a:rPr>
              <a:t>Booking &amp; Dispatch</a:t>
            </a:r>
            <a:endParaRPr lang="en-US" sz="1350" dirty="0"/>
          </a:p>
        </p:txBody>
      </p:sp>
      <p:sp>
        <p:nvSpPr>
          <p:cNvPr id="10" name="Text 6"/>
          <p:cNvSpPr/>
          <p:nvPr/>
        </p:nvSpPr>
        <p:spPr>
          <a:xfrm>
            <a:off x="3776913" y="3583995"/>
            <a:ext cx="2521483" cy="310045"/>
          </a:xfrm>
          <a:prstGeom prst="rect">
            <a:avLst/>
          </a:prstGeom>
          <a:noFill/>
          <a:ln/>
        </p:spPr>
        <p:txBody>
          <a:bodyPr wrap="none" lIns="0" tIns="0" rIns="0" bIns="0" rtlCol="0" anchor="t"/>
          <a:lstStyle/>
          <a:p>
            <a:pPr marL="0" indent="0" algn="ctr">
              <a:lnSpc>
                <a:spcPts val="1350"/>
              </a:lnSpc>
              <a:buNone/>
            </a:pPr>
            <a:r>
              <a:rPr lang="en-US" sz="1050" dirty="0">
                <a:solidFill>
                  <a:srgbClr val="DCD7E5"/>
                </a:solidFill>
                <a:latin typeface="Heebo Light" pitchFamily="34" charset="0"/>
                <a:ea typeface="Heebo Light" pitchFamily="34" charset="-122"/>
                <a:cs typeface="Heebo Light" pitchFamily="34" charset="-120"/>
              </a:rPr>
              <a:t>Task coordination</a:t>
            </a:r>
            <a:endParaRPr lang="en-US" sz="1050" dirty="0"/>
          </a:p>
        </p:txBody>
      </p:sp>
      <p:sp>
        <p:nvSpPr>
          <p:cNvPr id="11" name="Text 7"/>
          <p:cNvSpPr/>
          <p:nvPr/>
        </p:nvSpPr>
        <p:spPr>
          <a:xfrm>
            <a:off x="3709057" y="6679763"/>
            <a:ext cx="2521483" cy="775113"/>
          </a:xfrm>
          <a:prstGeom prst="rect">
            <a:avLst/>
          </a:prstGeom>
          <a:noFill/>
          <a:ln/>
        </p:spPr>
        <p:txBody>
          <a:bodyPr wrap="square" lIns="0" tIns="0" rIns="0" bIns="0" rtlCol="0" anchor="t"/>
          <a:lstStyle/>
          <a:p>
            <a:pPr marL="0" indent="0" algn="ctr">
              <a:lnSpc>
                <a:spcPts val="1650"/>
              </a:lnSpc>
              <a:buNone/>
            </a:pPr>
            <a:r>
              <a:rPr lang="en-US" sz="1350" dirty="0">
                <a:solidFill>
                  <a:srgbClr val="DCD7E5"/>
                </a:solidFill>
                <a:latin typeface="Montserrat" pitchFamily="34" charset="0"/>
                <a:ea typeface="Montserrat" pitchFamily="34" charset="-122"/>
                <a:cs typeface="Montserrat" pitchFamily="34" charset="-120"/>
              </a:rPr>
              <a:t>Telemetry Engine</a:t>
            </a:r>
            <a:endParaRPr lang="en-US" sz="1350" dirty="0"/>
          </a:p>
        </p:txBody>
      </p:sp>
      <p:sp>
        <p:nvSpPr>
          <p:cNvPr id="12" name="Text 8"/>
          <p:cNvSpPr/>
          <p:nvPr/>
        </p:nvSpPr>
        <p:spPr>
          <a:xfrm>
            <a:off x="3919788" y="8886866"/>
            <a:ext cx="2521483" cy="310044"/>
          </a:xfrm>
          <a:prstGeom prst="rect">
            <a:avLst/>
          </a:prstGeom>
          <a:noFill/>
          <a:ln/>
        </p:spPr>
        <p:txBody>
          <a:bodyPr wrap="none" lIns="0" tIns="0" rIns="0" bIns="0" rtlCol="0" anchor="t"/>
          <a:lstStyle/>
          <a:p>
            <a:pPr marL="0" indent="0" algn="ctr">
              <a:lnSpc>
                <a:spcPts val="1350"/>
              </a:lnSpc>
              <a:buNone/>
            </a:pPr>
            <a:r>
              <a:rPr lang="en-US" sz="1050" dirty="0">
                <a:solidFill>
                  <a:srgbClr val="DCD7E5"/>
                </a:solidFill>
                <a:latin typeface="Heebo Light" pitchFamily="34" charset="0"/>
                <a:ea typeface="Heebo Light" pitchFamily="34" charset="-122"/>
                <a:cs typeface="Heebo Light" pitchFamily="34" charset="-120"/>
              </a:rPr>
              <a:t>Operational metrics</a:t>
            </a:r>
            <a:endParaRPr lang="en-US" sz="1050" dirty="0"/>
          </a:p>
        </p:txBody>
      </p:sp>
      <p:sp>
        <p:nvSpPr>
          <p:cNvPr id="13" name="Text 9"/>
          <p:cNvSpPr/>
          <p:nvPr/>
        </p:nvSpPr>
        <p:spPr>
          <a:xfrm>
            <a:off x="6861875" y="6814978"/>
            <a:ext cx="2521483" cy="775113"/>
          </a:xfrm>
          <a:prstGeom prst="rect">
            <a:avLst/>
          </a:prstGeom>
          <a:noFill/>
          <a:ln/>
        </p:spPr>
        <p:txBody>
          <a:bodyPr wrap="square" lIns="0" tIns="0" rIns="0" bIns="0" rtlCol="0" anchor="t"/>
          <a:lstStyle/>
          <a:p>
            <a:pPr marL="0" indent="0" algn="ctr">
              <a:lnSpc>
                <a:spcPts val="1650"/>
              </a:lnSpc>
              <a:buNone/>
            </a:pPr>
            <a:r>
              <a:rPr lang="en-US" sz="1350" dirty="0">
                <a:solidFill>
                  <a:srgbClr val="DCD7E5"/>
                </a:solidFill>
                <a:latin typeface="Montserrat" pitchFamily="34" charset="0"/>
                <a:ea typeface="Montserrat" pitchFamily="34" charset="-122"/>
                <a:cs typeface="Montserrat" pitchFamily="34" charset="-120"/>
              </a:rPr>
              <a:t>MySQL Database</a:t>
            </a:r>
            <a:endParaRPr lang="en-US" sz="1350" dirty="0"/>
          </a:p>
        </p:txBody>
      </p:sp>
      <p:sp>
        <p:nvSpPr>
          <p:cNvPr id="14" name="Text 10"/>
          <p:cNvSpPr/>
          <p:nvPr/>
        </p:nvSpPr>
        <p:spPr>
          <a:xfrm>
            <a:off x="8122618" y="8886866"/>
            <a:ext cx="2521483" cy="310044"/>
          </a:xfrm>
          <a:prstGeom prst="rect">
            <a:avLst/>
          </a:prstGeom>
          <a:noFill/>
          <a:ln/>
        </p:spPr>
        <p:txBody>
          <a:bodyPr wrap="none" lIns="0" tIns="0" rIns="0" bIns="0" rtlCol="0" anchor="t"/>
          <a:lstStyle/>
          <a:p>
            <a:pPr marL="0" indent="0" algn="ctr">
              <a:lnSpc>
                <a:spcPts val="1350"/>
              </a:lnSpc>
              <a:buNone/>
            </a:pPr>
            <a:r>
              <a:rPr lang="en-US" sz="1050" dirty="0">
                <a:solidFill>
                  <a:srgbClr val="DCD7E5"/>
                </a:solidFill>
                <a:latin typeface="Heebo Light" pitchFamily="34" charset="0"/>
                <a:ea typeface="Heebo Light" pitchFamily="34" charset="-122"/>
                <a:cs typeface="Heebo Light" pitchFamily="34" charset="-120"/>
              </a:rPr>
              <a:t>Persistent storage</a:t>
            </a:r>
            <a:endParaRPr lang="en-US" sz="1050" dirty="0"/>
          </a:p>
        </p:txBody>
      </p:sp>
      <p:sp>
        <p:nvSpPr>
          <p:cNvPr id="15" name="Text 11"/>
          <p:cNvSpPr/>
          <p:nvPr/>
        </p:nvSpPr>
        <p:spPr>
          <a:xfrm>
            <a:off x="7478490" y="4734141"/>
            <a:ext cx="2576602" cy="387556"/>
          </a:xfrm>
          <a:prstGeom prst="rect">
            <a:avLst/>
          </a:prstGeom>
          <a:noFill/>
          <a:ln/>
        </p:spPr>
        <p:txBody>
          <a:bodyPr wrap="none" lIns="0" tIns="0" rIns="0" bIns="0" rtlCol="0" anchor="t"/>
          <a:lstStyle/>
          <a:p>
            <a:pPr marL="0" indent="0" algn="ctr">
              <a:lnSpc>
                <a:spcPts val="1650"/>
              </a:lnSpc>
              <a:buNone/>
            </a:pPr>
            <a:r>
              <a:rPr lang="en-US" sz="1350" dirty="0">
                <a:solidFill>
                  <a:srgbClr val="DCD7E5"/>
                </a:solidFill>
                <a:latin typeface="Montserrat" pitchFamily="34" charset="0"/>
                <a:ea typeface="Montserrat" pitchFamily="34" charset="-122"/>
                <a:cs typeface="Montserrat" pitchFamily="34" charset="-120"/>
              </a:rPr>
              <a:t>API Layer</a:t>
            </a:r>
            <a:endParaRPr lang="en-US" sz="1350" dirty="0"/>
          </a:p>
        </p:txBody>
      </p:sp>
      <p:sp>
        <p:nvSpPr>
          <p:cNvPr id="16" name="Text 12"/>
          <p:cNvSpPr/>
          <p:nvPr/>
        </p:nvSpPr>
        <p:spPr>
          <a:xfrm>
            <a:off x="7696024" y="5337211"/>
            <a:ext cx="2576602" cy="310045"/>
          </a:xfrm>
          <a:prstGeom prst="rect">
            <a:avLst/>
          </a:prstGeom>
          <a:noFill/>
          <a:ln/>
        </p:spPr>
        <p:txBody>
          <a:bodyPr wrap="none" lIns="0" tIns="0" rIns="0" bIns="0" rtlCol="0" anchor="t"/>
          <a:lstStyle/>
          <a:p>
            <a:pPr marL="0" indent="0" algn="ctr">
              <a:lnSpc>
                <a:spcPts val="1350"/>
              </a:lnSpc>
              <a:buNone/>
            </a:pPr>
            <a:r>
              <a:rPr lang="en-US" sz="1050" dirty="0">
                <a:solidFill>
                  <a:srgbClr val="DCD7E5"/>
                </a:solidFill>
                <a:latin typeface="Heebo Light" pitchFamily="34" charset="0"/>
                <a:ea typeface="Heebo Light" pitchFamily="34" charset="-122"/>
                <a:cs typeface="Heebo Light" pitchFamily="34" charset="-120"/>
              </a:rPr>
              <a:t>Spring Boot services</a:t>
            </a:r>
            <a:endParaRPr lang="en-US" sz="1050" dirty="0"/>
          </a:p>
        </p:txBody>
      </p:sp>
      <p:sp>
        <p:nvSpPr>
          <p:cNvPr id="17" name="Text 13"/>
          <p:cNvSpPr/>
          <p:nvPr/>
        </p:nvSpPr>
        <p:spPr>
          <a:xfrm>
            <a:off x="2996543" y="4744323"/>
            <a:ext cx="2576602" cy="775112"/>
          </a:xfrm>
          <a:prstGeom prst="rect">
            <a:avLst/>
          </a:prstGeom>
          <a:noFill/>
          <a:ln/>
        </p:spPr>
        <p:txBody>
          <a:bodyPr wrap="square" lIns="0" tIns="0" rIns="0" bIns="0" rtlCol="0" anchor="t"/>
          <a:lstStyle/>
          <a:p>
            <a:pPr marL="0" indent="0" algn="ctr">
              <a:lnSpc>
                <a:spcPts val="1650"/>
              </a:lnSpc>
              <a:buNone/>
            </a:pPr>
            <a:r>
              <a:rPr lang="en-US" sz="1350" dirty="0">
                <a:solidFill>
                  <a:srgbClr val="DCD7E5"/>
                </a:solidFill>
                <a:latin typeface="Montserrat" pitchFamily="34" charset="0"/>
                <a:ea typeface="Montserrat" pitchFamily="34" charset="-122"/>
                <a:cs typeface="Montserrat" pitchFamily="34" charset="-120"/>
              </a:rPr>
              <a:t>Maintenance Engine</a:t>
            </a:r>
            <a:endParaRPr lang="en-US" sz="1350" dirty="0"/>
          </a:p>
        </p:txBody>
      </p:sp>
      <p:sp>
        <p:nvSpPr>
          <p:cNvPr id="18" name="Text 14"/>
          <p:cNvSpPr/>
          <p:nvPr/>
        </p:nvSpPr>
        <p:spPr>
          <a:xfrm>
            <a:off x="2979752" y="5228554"/>
            <a:ext cx="2576602" cy="310045"/>
          </a:xfrm>
          <a:prstGeom prst="rect">
            <a:avLst/>
          </a:prstGeom>
          <a:noFill/>
          <a:ln/>
        </p:spPr>
        <p:txBody>
          <a:bodyPr wrap="none" lIns="0" tIns="0" rIns="0" bIns="0" rtlCol="0" anchor="t"/>
          <a:lstStyle/>
          <a:p>
            <a:pPr marL="0" indent="0" algn="ctr">
              <a:lnSpc>
                <a:spcPts val="1350"/>
              </a:lnSpc>
              <a:buNone/>
            </a:pPr>
            <a:r>
              <a:rPr lang="en-US" sz="1050" dirty="0">
                <a:solidFill>
                  <a:srgbClr val="DCD7E5"/>
                </a:solidFill>
                <a:latin typeface="Heebo Light" pitchFamily="34" charset="0"/>
                <a:ea typeface="Heebo Light" pitchFamily="34" charset="-122"/>
                <a:cs typeface="Heebo Light" pitchFamily="34" charset="-120"/>
              </a:rPr>
              <a:t>Service upkeep</a:t>
            </a:r>
            <a:endParaRPr lang="en-US" sz="1050" dirty="0"/>
          </a:p>
        </p:txBody>
      </p:sp>
      <p:sp>
        <p:nvSpPr>
          <p:cNvPr id="19" name="Text 15"/>
          <p:cNvSpPr/>
          <p:nvPr/>
        </p:nvSpPr>
        <p:spPr>
          <a:xfrm>
            <a:off x="425172" y="10008751"/>
            <a:ext cx="13780056" cy="170021"/>
          </a:xfrm>
          <a:prstGeom prst="rect">
            <a:avLst/>
          </a:prstGeom>
          <a:noFill/>
          <a:ln/>
        </p:spPr>
        <p:txBody>
          <a:bodyPr wrap="none" lIns="0" tIns="0" rIns="0" bIns="0" rtlCol="0" anchor="t"/>
          <a:lstStyle/>
          <a:p>
            <a:pPr marL="0" indent="0" algn="l">
              <a:lnSpc>
                <a:spcPts val="1300"/>
              </a:lnSpc>
              <a:buNone/>
            </a:pPr>
            <a:r>
              <a:rPr lang="en-US" sz="800" dirty="0">
                <a:solidFill>
                  <a:srgbClr val="DCD7E5"/>
                </a:solidFill>
                <a:latin typeface="Heebo Light" pitchFamily="34" charset="0"/>
                <a:ea typeface="Heebo Light" pitchFamily="34" charset="-122"/>
                <a:cs typeface="Heebo Light" pitchFamily="34" charset="-120"/>
              </a:rPr>
              <a:t>This layered approach ensures that each component can be developed, tested, and scaled independently, providing a resilient and high-performing solution for fleet management.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84659"/>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F2F0F4"/>
                </a:solidFill>
                <a:latin typeface="Montserrat" pitchFamily="34" charset="0"/>
                <a:ea typeface="Montserrat" pitchFamily="34" charset="-122"/>
                <a:cs typeface="Montserrat" pitchFamily="34" charset="-120"/>
              </a:rPr>
              <a:t>Future Enhancements: Expanding NeuroFleetX Capabilities</a:t>
            </a:r>
            <a:endParaRPr lang="en-US" sz="3900" dirty="0"/>
          </a:p>
        </p:txBody>
      </p:sp>
      <p:sp>
        <p:nvSpPr>
          <p:cNvPr id="3" name="Text 1"/>
          <p:cNvSpPr/>
          <p:nvPr/>
        </p:nvSpPr>
        <p:spPr>
          <a:xfrm>
            <a:off x="793790" y="272165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NeuroFleetX is designed with future growth in mind. Our roadmap includes integrating advanced AI and IoT capabilities to further enhance optimization, safety, and operational efficiency.</a:t>
            </a:r>
            <a:endParaRPr lang="en-US" sz="1550" dirty="0"/>
          </a:p>
        </p:txBody>
      </p:sp>
      <p:sp>
        <p:nvSpPr>
          <p:cNvPr id="4" name="Shape 2"/>
          <p:cNvSpPr/>
          <p:nvPr/>
        </p:nvSpPr>
        <p:spPr>
          <a:xfrm>
            <a:off x="793790" y="3579971"/>
            <a:ext cx="13042821" cy="3564969"/>
          </a:xfrm>
          <a:prstGeom prst="roundRect">
            <a:avLst>
              <a:gd name="adj" fmla="val 2338"/>
            </a:avLst>
          </a:prstGeom>
          <a:solidFill>
            <a:srgbClr val="31136C"/>
          </a:solidFill>
          <a:ln w="7620">
            <a:solidFill>
              <a:srgbClr val="4A2C85"/>
            </a:solidFill>
            <a:prstDash val="solid"/>
          </a:ln>
        </p:spPr>
      </p:sp>
      <p:sp>
        <p:nvSpPr>
          <p:cNvPr id="5" name="Shape 3"/>
          <p:cNvSpPr/>
          <p:nvPr/>
        </p:nvSpPr>
        <p:spPr>
          <a:xfrm>
            <a:off x="801410" y="3587591"/>
            <a:ext cx="4342448" cy="2088713"/>
          </a:xfrm>
          <a:prstGeom prst="roundRect">
            <a:avLst>
              <a:gd name="adj" fmla="val 3991"/>
            </a:avLst>
          </a:prstGeom>
          <a:solidFill>
            <a:srgbClr val="31136C"/>
          </a:solidFill>
          <a:ln/>
        </p:spPr>
      </p:sp>
      <p:sp>
        <p:nvSpPr>
          <p:cNvPr id="6" name="Text 4"/>
          <p:cNvSpPr/>
          <p:nvPr/>
        </p:nvSpPr>
        <p:spPr>
          <a:xfrm>
            <a:off x="999768" y="3785949"/>
            <a:ext cx="3647956" cy="620316"/>
          </a:xfrm>
          <a:prstGeom prst="rect">
            <a:avLst/>
          </a:prstGeom>
          <a:noFill/>
          <a:ln/>
        </p:spPr>
        <p:txBody>
          <a:bodyPr wrap="squar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AI-Driven Route Optimization</a:t>
            </a:r>
            <a:endParaRPr lang="en-US" sz="1950" dirty="0"/>
          </a:p>
        </p:txBody>
      </p:sp>
      <p:sp>
        <p:nvSpPr>
          <p:cNvPr id="7" name="Text 5"/>
          <p:cNvSpPr/>
          <p:nvPr/>
        </p:nvSpPr>
        <p:spPr>
          <a:xfrm>
            <a:off x="999768" y="4525328"/>
            <a:ext cx="3647956"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Dynamic route planning to minimize travel time, fuel consumption, and environmental impact.</a:t>
            </a:r>
            <a:endParaRPr lang="en-US" sz="1550" dirty="0"/>
          </a:p>
        </p:txBody>
      </p:sp>
      <p:sp>
        <p:nvSpPr>
          <p:cNvPr id="8" name="Shape 6"/>
          <p:cNvSpPr/>
          <p:nvPr/>
        </p:nvSpPr>
        <p:spPr>
          <a:xfrm>
            <a:off x="5143857" y="3587591"/>
            <a:ext cx="4342567" cy="2088713"/>
          </a:xfrm>
          <a:prstGeom prst="rect">
            <a:avLst/>
          </a:prstGeom>
          <a:solidFill>
            <a:srgbClr val="31136C"/>
          </a:solidFill>
          <a:ln/>
        </p:spPr>
      </p:sp>
      <p:sp>
        <p:nvSpPr>
          <p:cNvPr id="9" name="Shape 7"/>
          <p:cNvSpPr/>
          <p:nvPr/>
        </p:nvSpPr>
        <p:spPr>
          <a:xfrm>
            <a:off x="5143857" y="3587591"/>
            <a:ext cx="22860" cy="2088713"/>
          </a:xfrm>
          <a:prstGeom prst="roundRect">
            <a:avLst>
              <a:gd name="adj" fmla="val 364651"/>
            </a:avLst>
          </a:prstGeom>
          <a:solidFill>
            <a:srgbClr val="4A2C85"/>
          </a:solidFill>
          <a:ln/>
        </p:spPr>
      </p:sp>
      <p:sp>
        <p:nvSpPr>
          <p:cNvPr id="10" name="Text 8"/>
          <p:cNvSpPr/>
          <p:nvPr/>
        </p:nvSpPr>
        <p:spPr>
          <a:xfrm>
            <a:off x="5639991" y="3785949"/>
            <a:ext cx="2712244"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IoT Sensor Integration</a:t>
            </a:r>
            <a:endParaRPr lang="en-US" sz="1950" dirty="0"/>
          </a:p>
        </p:txBody>
      </p:sp>
      <p:sp>
        <p:nvSpPr>
          <p:cNvPr id="11" name="Text 9"/>
          <p:cNvSpPr/>
          <p:nvPr/>
        </p:nvSpPr>
        <p:spPr>
          <a:xfrm>
            <a:off x="5639991" y="4215170"/>
            <a:ext cx="3350300"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Incorporating data from diverse sensors for richer telemetry and environmental monitoring.</a:t>
            </a:r>
            <a:endParaRPr lang="en-US" sz="1550" dirty="0"/>
          </a:p>
        </p:txBody>
      </p:sp>
      <p:sp>
        <p:nvSpPr>
          <p:cNvPr id="12" name="Shape 10"/>
          <p:cNvSpPr/>
          <p:nvPr/>
        </p:nvSpPr>
        <p:spPr>
          <a:xfrm>
            <a:off x="4895850" y="4383822"/>
            <a:ext cx="496133" cy="496133"/>
          </a:xfrm>
          <a:prstGeom prst="roundRect">
            <a:avLst>
              <a:gd name="adj" fmla="val 16802"/>
            </a:avLst>
          </a:prstGeom>
          <a:solidFill>
            <a:srgbClr val="0D0A2C">
              <a:alpha val="95000"/>
            </a:srgbClr>
          </a:solidFill>
          <a:ln w="22860">
            <a:solidFill>
              <a:srgbClr val="4A2C85"/>
            </a:solidFill>
            <a:prstDash val="solid"/>
          </a:ln>
        </p:spPr>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9913" y="4507766"/>
            <a:ext cx="248007" cy="248007"/>
          </a:xfrm>
          <a:prstGeom prst="rect">
            <a:avLst/>
          </a:prstGeom>
        </p:spPr>
      </p:pic>
      <p:sp>
        <p:nvSpPr>
          <p:cNvPr id="14" name="Shape 11"/>
          <p:cNvSpPr/>
          <p:nvPr/>
        </p:nvSpPr>
        <p:spPr>
          <a:xfrm>
            <a:off x="9486424" y="3587591"/>
            <a:ext cx="4342567" cy="2088713"/>
          </a:xfrm>
          <a:prstGeom prst="rect">
            <a:avLst/>
          </a:prstGeom>
          <a:solidFill>
            <a:srgbClr val="31136C"/>
          </a:solidFill>
          <a:ln/>
        </p:spPr>
      </p:sp>
      <p:sp>
        <p:nvSpPr>
          <p:cNvPr id="15" name="Shape 12"/>
          <p:cNvSpPr/>
          <p:nvPr/>
        </p:nvSpPr>
        <p:spPr>
          <a:xfrm>
            <a:off x="9486424" y="3587591"/>
            <a:ext cx="22860" cy="2088713"/>
          </a:xfrm>
          <a:prstGeom prst="roundRect">
            <a:avLst>
              <a:gd name="adj" fmla="val 364651"/>
            </a:avLst>
          </a:prstGeom>
          <a:solidFill>
            <a:srgbClr val="4A2C85"/>
          </a:solidFill>
          <a:ln/>
        </p:spPr>
      </p:sp>
      <p:sp>
        <p:nvSpPr>
          <p:cNvPr id="16" name="Text 13"/>
          <p:cNvSpPr/>
          <p:nvPr/>
        </p:nvSpPr>
        <p:spPr>
          <a:xfrm>
            <a:off x="9982557" y="3785949"/>
            <a:ext cx="3104793"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Driver Behavior Analytics</a:t>
            </a:r>
            <a:endParaRPr lang="en-US" sz="1950" dirty="0"/>
          </a:p>
        </p:txBody>
      </p:sp>
      <p:sp>
        <p:nvSpPr>
          <p:cNvPr id="17" name="Text 14"/>
          <p:cNvSpPr/>
          <p:nvPr/>
        </p:nvSpPr>
        <p:spPr>
          <a:xfrm>
            <a:off x="9982557" y="4215170"/>
            <a:ext cx="3648075" cy="95261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Monitoring and analyzing driving patterns to promote safer habits and reduce operational risks.</a:t>
            </a:r>
            <a:endParaRPr lang="en-US" sz="1550" dirty="0"/>
          </a:p>
        </p:txBody>
      </p:sp>
      <p:sp>
        <p:nvSpPr>
          <p:cNvPr id="18" name="Shape 15"/>
          <p:cNvSpPr/>
          <p:nvPr/>
        </p:nvSpPr>
        <p:spPr>
          <a:xfrm>
            <a:off x="9238417" y="4383822"/>
            <a:ext cx="496133" cy="496133"/>
          </a:xfrm>
          <a:prstGeom prst="roundRect">
            <a:avLst>
              <a:gd name="adj" fmla="val 16802"/>
            </a:avLst>
          </a:prstGeom>
          <a:solidFill>
            <a:srgbClr val="0D0A2C">
              <a:alpha val="95000"/>
            </a:srgbClr>
          </a:solidFill>
          <a:ln w="22860">
            <a:solidFill>
              <a:srgbClr val="4A2C85"/>
            </a:solidFill>
            <a:prstDash val="solid"/>
          </a:ln>
        </p:spPr>
      </p:sp>
      <p:pic>
        <p:nvPicPr>
          <p:cNvPr id="1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62480" y="4507766"/>
            <a:ext cx="248007" cy="248007"/>
          </a:xfrm>
          <a:prstGeom prst="rect">
            <a:avLst/>
          </a:prstGeom>
        </p:spPr>
      </p:pic>
      <p:sp>
        <p:nvSpPr>
          <p:cNvPr id="20" name="Shape 16"/>
          <p:cNvSpPr/>
          <p:nvPr/>
        </p:nvSpPr>
        <p:spPr>
          <a:xfrm>
            <a:off x="801410" y="5676305"/>
            <a:ext cx="6513790" cy="1461016"/>
          </a:xfrm>
          <a:prstGeom prst="rect">
            <a:avLst/>
          </a:prstGeom>
          <a:solidFill>
            <a:srgbClr val="31136C"/>
          </a:solidFill>
          <a:ln/>
        </p:spPr>
      </p:sp>
      <p:sp>
        <p:nvSpPr>
          <p:cNvPr id="21" name="Shape 17"/>
          <p:cNvSpPr/>
          <p:nvPr/>
        </p:nvSpPr>
        <p:spPr>
          <a:xfrm>
            <a:off x="801410" y="5676305"/>
            <a:ext cx="6513790" cy="22860"/>
          </a:xfrm>
          <a:prstGeom prst="roundRect">
            <a:avLst>
              <a:gd name="adj" fmla="val 364651"/>
            </a:avLst>
          </a:prstGeom>
          <a:solidFill>
            <a:srgbClr val="4A2C85"/>
          </a:solidFill>
          <a:ln/>
        </p:spPr>
      </p:sp>
      <p:sp>
        <p:nvSpPr>
          <p:cNvPr id="22" name="Text 18"/>
          <p:cNvSpPr/>
          <p:nvPr/>
        </p:nvSpPr>
        <p:spPr>
          <a:xfrm>
            <a:off x="999768" y="5874663"/>
            <a:ext cx="2887623"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Centralized Mobile App</a:t>
            </a:r>
            <a:endParaRPr lang="en-US" sz="1950" dirty="0"/>
          </a:p>
        </p:txBody>
      </p:sp>
      <p:sp>
        <p:nvSpPr>
          <p:cNvPr id="23" name="Text 19"/>
          <p:cNvSpPr/>
          <p:nvPr/>
        </p:nvSpPr>
        <p:spPr>
          <a:xfrm>
            <a:off x="999768" y="6303883"/>
            <a:ext cx="5819299"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A unified mobile interface for drivers and administrators to access real-time data and manage tasks on the go.</a:t>
            </a:r>
            <a:endParaRPr lang="en-US" sz="1550" dirty="0"/>
          </a:p>
        </p:txBody>
      </p:sp>
      <p:sp>
        <p:nvSpPr>
          <p:cNvPr id="24" name="Shape 20"/>
          <p:cNvSpPr/>
          <p:nvPr/>
        </p:nvSpPr>
        <p:spPr>
          <a:xfrm>
            <a:off x="7315200" y="5676305"/>
            <a:ext cx="6513790" cy="1461016"/>
          </a:xfrm>
          <a:prstGeom prst="rect">
            <a:avLst/>
          </a:prstGeom>
          <a:solidFill>
            <a:srgbClr val="31136C"/>
          </a:solidFill>
          <a:ln/>
        </p:spPr>
      </p:sp>
      <p:sp>
        <p:nvSpPr>
          <p:cNvPr id="25" name="Shape 21"/>
          <p:cNvSpPr/>
          <p:nvPr/>
        </p:nvSpPr>
        <p:spPr>
          <a:xfrm>
            <a:off x="7315200" y="5676305"/>
            <a:ext cx="22860" cy="1461016"/>
          </a:xfrm>
          <a:prstGeom prst="roundRect">
            <a:avLst>
              <a:gd name="adj" fmla="val 364651"/>
            </a:avLst>
          </a:prstGeom>
          <a:solidFill>
            <a:srgbClr val="4A2C85"/>
          </a:solidFill>
          <a:ln/>
        </p:spPr>
      </p:sp>
      <p:sp>
        <p:nvSpPr>
          <p:cNvPr id="26" name="Shape 22"/>
          <p:cNvSpPr/>
          <p:nvPr/>
        </p:nvSpPr>
        <p:spPr>
          <a:xfrm>
            <a:off x="7315200" y="5676305"/>
            <a:ext cx="6513790" cy="22860"/>
          </a:xfrm>
          <a:prstGeom prst="roundRect">
            <a:avLst>
              <a:gd name="adj" fmla="val 364651"/>
            </a:avLst>
          </a:prstGeom>
          <a:solidFill>
            <a:srgbClr val="4A2C85"/>
          </a:solidFill>
          <a:ln/>
        </p:spPr>
      </p:sp>
      <p:sp>
        <p:nvSpPr>
          <p:cNvPr id="27" name="Text 23"/>
          <p:cNvSpPr/>
          <p:nvPr/>
        </p:nvSpPr>
        <p:spPr>
          <a:xfrm>
            <a:off x="7811333" y="5874663"/>
            <a:ext cx="4592360" cy="310158"/>
          </a:xfrm>
          <a:prstGeom prst="rect">
            <a:avLst/>
          </a:prstGeom>
          <a:noFill/>
          <a:ln/>
        </p:spPr>
        <p:txBody>
          <a:bodyPr wrap="none" lIns="0" tIns="0" rIns="0" bIns="0" rtlCol="0" anchor="t"/>
          <a:lstStyle/>
          <a:p>
            <a:pPr marL="0" indent="0" algn="l">
              <a:lnSpc>
                <a:spcPts val="2400"/>
              </a:lnSpc>
              <a:buNone/>
            </a:pPr>
            <a:r>
              <a:rPr lang="en-US" sz="1950" dirty="0">
                <a:solidFill>
                  <a:srgbClr val="DCD7E5"/>
                </a:solidFill>
                <a:latin typeface="Montserrat" pitchFamily="34" charset="0"/>
                <a:ea typeface="Montserrat" pitchFamily="34" charset="-122"/>
                <a:cs typeface="Montserrat" pitchFamily="34" charset="-120"/>
              </a:rPr>
              <a:t>Automated Maintenance Scheduling</a:t>
            </a:r>
            <a:endParaRPr lang="en-US" sz="1950" dirty="0"/>
          </a:p>
        </p:txBody>
      </p:sp>
      <p:sp>
        <p:nvSpPr>
          <p:cNvPr id="28" name="Text 24"/>
          <p:cNvSpPr/>
          <p:nvPr/>
        </p:nvSpPr>
        <p:spPr>
          <a:xfrm>
            <a:off x="7811333" y="6303883"/>
            <a:ext cx="5819299" cy="635079"/>
          </a:xfrm>
          <a:prstGeom prst="rect">
            <a:avLst/>
          </a:prstGeom>
          <a:noFill/>
          <a:ln/>
        </p:spPr>
        <p:txBody>
          <a:bodyPr wrap="square" lIns="0" tIns="0" rIns="0" bIns="0" rtlCol="0" anchor="t"/>
          <a:lstStyle/>
          <a:p>
            <a:pPr marL="0" indent="0" algn="l">
              <a:lnSpc>
                <a:spcPts val="2500"/>
              </a:lnSpc>
              <a:buNone/>
            </a:pPr>
            <a:r>
              <a:rPr lang="en-US" sz="1550" dirty="0">
                <a:solidFill>
                  <a:srgbClr val="DCD7E5"/>
                </a:solidFill>
                <a:latin typeface="Heebo Light" pitchFamily="34" charset="0"/>
                <a:ea typeface="Heebo Light" pitchFamily="34" charset="-122"/>
                <a:cs typeface="Heebo Light" pitchFamily="34" charset="-120"/>
              </a:rPr>
              <a:t>Proactive scheduling of vehicle servicing based on predictive analytics and usage patterns.</a:t>
            </a:r>
            <a:endParaRPr lang="en-US" sz="1550" dirty="0"/>
          </a:p>
        </p:txBody>
      </p:sp>
      <p:sp>
        <p:nvSpPr>
          <p:cNvPr id="29" name="Shape 25"/>
          <p:cNvSpPr/>
          <p:nvPr/>
        </p:nvSpPr>
        <p:spPr>
          <a:xfrm>
            <a:off x="7067193" y="6158686"/>
            <a:ext cx="496133" cy="496133"/>
          </a:xfrm>
          <a:prstGeom prst="roundRect">
            <a:avLst>
              <a:gd name="adj" fmla="val 16802"/>
            </a:avLst>
          </a:prstGeom>
          <a:solidFill>
            <a:srgbClr val="0D0A2C">
              <a:alpha val="95000"/>
            </a:srgbClr>
          </a:solidFill>
          <a:ln w="22860">
            <a:solidFill>
              <a:srgbClr val="4A2C85"/>
            </a:solidFill>
            <a:prstDash val="solid"/>
          </a:ln>
        </p:spPr>
      </p:sp>
      <p:pic>
        <p:nvPicPr>
          <p:cNvPr id="3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1256" y="6282630"/>
            <a:ext cx="248007" cy="2480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8066" y="919043"/>
            <a:ext cx="4488061" cy="561023"/>
          </a:xfrm>
          <a:prstGeom prst="rect">
            <a:avLst/>
          </a:prstGeom>
          <a:noFill/>
          <a:ln/>
        </p:spPr>
        <p:txBody>
          <a:bodyPr wrap="none" lIns="0" tIns="0" rIns="0" bIns="0" rtlCol="0" anchor="t"/>
          <a:lstStyle/>
          <a:p>
            <a:pPr marL="0" indent="0" algn="l">
              <a:lnSpc>
                <a:spcPts val="4400"/>
              </a:lnSpc>
              <a:buNone/>
            </a:pPr>
            <a:r>
              <a:rPr lang="en-US" sz="3500" dirty="0">
                <a:solidFill>
                  <a:srgbClr val="F2F0F4"/>
                </a:solidFill>
                <a:latin typeface="Montserrat" pitchFamily="34" charset="0"/>
                <a:ea typeface="Montserrat" pitchFamily="34" charset="-122"/>
                <a:cs typeface="Montserrat" pitchFamily="34" charset="-120"/>
              </a:rPr>
              <a:t>CONCLUSION</a:t>
            </a:r>
            <a:endParaRPr lang="en-US" sz="3500" dirty="0"/>
          </a:p>
        </p:txBody>
      </p:sp>
      <p:sp>
        <p:nvSpPr>
          <p:cNvPr id="4" name="Text 1"/>
          <p:cNvSpPr/>
          <p:nvPr/>
        </p:nvSpPr>
        <p:spPr>
          <a:xfrm>
            <a:off x="718066" y="1749266"/>
            <a:ext cx="7707868" cy="574358"/>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NeuroFleetX is more than just a fleet management system; it's a vision for the future of urban mobility. By integrating advanced  real-time data, it delivers a complete, intelligent solution.</a:t>
            </a:r>
            <a:endParaRPr lang="en-US" sz="1400" dirty="0"/>
          </a:p>
        </p:txBody>
      </p:sp>
      <p:sp>
        <p:nvSpPr>
          <p:cNvPr id="5" name="Shape 2"/>
          <p:cNvSpPr/>
          <p:nvPr/>
        </p:nvSpPr>
        <p:spPr>
          <a:xfrm>
            <a:off x="718066" y="2525554"/>
            <a:ext cx="3764161" cy="2226469"/>
          </a:xfrm>
          <a:prstGeom prst="roundRect">
            <a:avLst>
              <a:gd name="adj" fmla="val 3387"/>
            </a:avLst>
          </a:prstGeom>
          <a:solidFill>
            <a:srgbClr val="0D0A2C">
              <a:alpha val="95000"/>
            </a:srgbClr>
          </a:solidFill>
          <a:ln w="22860">
            <a:solidFill>
              <a:srgbClr val="4A2C85"/>
            </a:solidFill>
            <a:prstDash val="solid"/>
          </a:ln>
        </p:spPr>
      </p:sp>
      <p:pic>
        <p:nvPicPr>
          <p:cNvPr id="6" name="Image 1" descr="preencoded.png"/>
          <p:cNvPicPr>
            <a:picLocks noChangeAspect="1"/>
          </p:cNvPicPr>
          <p:nvPr/>
        </p:nvPicPr>
        <p:blipFill>
          <a:blip r:embed="rId4"/>
          <a:stretch>
            <a:fillRect/>
          </a:stretch>
        </p:blipFill>
        <p:spPr>
          <a:xfrm>
            <a:off x="633293" y="2440781"/>
            <a:ext cx="215384" cy="215384"/>
          </a:xfrm>
          <a:prstGeom prst="rect">
            <a:avLst/>
          </a:prstGeom>
        </p:spPr>
      </p:pic>
      <p:pic>
        <p:nvPicPr>
          <p:cNvPr id="7" name="Image 2" descr="preencoded.png"/>
          <p:cNvPicPr>
            <a:picLocks noChangeAspect="1"/>
          </p:cNvPicPr>
          <p:nvPr/>
        </p:nvPicPr>
        <p:blipFill>
          <a:blip r:embed="rId5"/>
          <a:stretch>
            <a:fillRect/>
          </a:stretch>
        </p:blipFill>
        <p:spPr>
          <a:xfrm>
            <a:off x="4351615" y="4621411"/>
            <a:ext cx="215384" cy="215384"/>
          </a:xfrm>
          <a:prstGeom prst="rect">
            <a:avLst/>
          </a:prstGeom>
        </p:spPr>
      </p:pic>
      <p:sp>
        <p:nvSpPr>
          <p:cNvPr id="8" name="Text 3"/>
          <p:cNvSpPr/>
          <p:nvPr/>
        </p:nvSpPr>
        <p:spPr>
          <a:xfrm>
            <a:off x="1010126" y="2817614"/>
            <a:ext cx="3180040" cy="673179"/>
          </a:xfrm>
          <a:prstGeom prst="rect">
            <a:avLst/>
          </a:prstGeom>
          <a:noFill/>
          <a:ln/>
        </p:spPr>
        <p:txBody>
          <a:bodyPr wrap="squar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Enhanced Fleet Performance</a:t>
            </a:r>
            <a:endParaRPr lang="en-US" sz="2100" dirty="0"/>
          </a:p>
        </p:txBody>
      </p:sp>
      <p:sp>
        <p:nvSpPr>
          <p:cNvPr id="9" name="Text 4"/>
          <p:cNvSpPr/>
          <p:nvPr/>
        </p:nvSpPr>
        <p:spPr>
          <a:xfrm>
            <a:off x="1010126" y="3598426"/>
            <a:ext cx="3180040" cy="861536"/>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Optimizing every aspect of fleet operations, from dispatch to maintenance, ensuring peak efficiency.</a:t>
            </a:r>
            <a:endParaRPr lang="en-US" sz="1400" dirty="0"/>
          </a:p>
        </p:txBody>
      </p:sp>
      <p:sp>
        <p:nvSpPr>
          <p:cNvPr id="10" name="Shape 5"/>
          <p:cNvSpPr/>
          <p:nvPr/>
        </p:nvSpPr>
        <p:spPr>
          <a:xfrm>
            <a:off x="4661654" y="2525554"/>
            <a:ext cx="3764280" cy="2226469"/>
          </a:xfrm>
          <a:prstGeom prst="roundRect">
            <a:avLst>
              <a:gd name="adj" fmla="val 3387"/>
            </a:avLst>
          </a:prstGeom>
          <a:solidFill>
            <a:srgbClr val="0D0A2C">
              <a:alpha val="95000"/>
            </a:srgbClr>
          </a:solidFill>
          <a:ln w="22860">
            <a:solidFill>
              <a:srgbClr val="4A2C85"/>
            </a:solidFill>
            <a:prstDash val="solid"/>
          </a:ln>
        </p:spPr>
      </p:sp>
      <p:pic>
        <p:nvPicPr>
          <p:cNvPr id="11" name="Image 3" descr="preencoded.png"/>
          <p:cNvPicPr>
            <a:picLocks noChangeAspect="1"/>
          </p:cNvPicPr>
          <p:nvPr/>
        </p:nvPicPr>
        <p:blipFill>
          <a:blip r:embed="rId4"/>
          <a:stretch>
            <a:fillRect/>
          </a:stretch>
        </p:blipFill>
        <p:spPr>
          <a:xfrm>
            <a:off x="4576882" y="2440781"/>
            <a:ext cx="215384" cy="215384"/>
          </a:xfrm>
          <a:prstGeom prst="rect">
            <a:avLst/>
          </a:prstGeom>
        </p:spPr>
      </p:pic>
      <p:pic>
        <p:nvPicPr>
          <p:cNvPr id="12" name="Image 4" descr="preencoded.png"/>
          <p:cNvPicPr>
            <a:picLocks noChangeAspect="1"/>
          </p:cNvPicPr>
          <p:nvPr/>
        </p:nvPicPr>
        <p:blipFill>
          <a:blip r:embed="rId5"/>
          <a:stretch>
            <a:fillRect/>
          </a:stretch>
        </p:blipFill>
        <p:spPr>
          <a:xfrm>
            <a:off x="8295323" y="4621411"/>
            <a:ext cx="215384" cy="215384"/>
          </a:xfrm>
          <a:prstGeom prst="rect">
            <a:avLst/>
          </a:prstGeom>
        </p:spPr>
      </p:pic>
      <p:sp>
        <p:nvSpPr>
          <p:cNvPr id="13" name="Text 6"/>
          <p:cNvSpPr/>
          <p:nvPr/>
        </p:nvSpPr>
        <p:spPr>
          <a:xfrm>
            <a:off x="4953714" y="2817614"/>
            <a:ext cx="3180159" cy="673179"/>
          </a:xfrm>
          <a:prstGeom prst="rect">
            <a:avLst/>
          </a:prstGeom>
          <a:noFill/>
          <a:ln/>
        </p:spPr>
        <p:txBody>
          <a:bodyPr wrap="squar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Reduced Operational Costs</a:t>
            </a:r>
            <a:endParaRPr lang="en-US" sz="2100" dirty="0"/>
          </a:p>
        </p:txBody>
      </p:sp>
      <p:sp>
        <p:nvSpPr>
          <p:cNvPr id="14" name="Text 7"/>
          <p:cNvSpPr/>
          <p:nvPr/>
        </p:nvSpPr>
        <p:spPr>
          <a:xfrm>
            <a:off x="4953714" y="3598426"/>
            <a:ext cx="3180159" cy="861536"/>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Minimizing downtime, fuel consumption, and reactive repairs leads to significant cost savings.</a:t>
            </a:r>
            <a:endParaRPr lang="en-US" sz="1400" dirty="0"/>
          </a:p>
        </p:txBody>
      </p:sp>
      <p:sp>
        <p:nvSpPr>
          <p:cNvPr id="15" name="Shape 8"/>
          <p:cNvSpPr/>
          <p:nvPr/>
        </p:nvSpPr>
        <p:spPr>
          <a:xfrm>
            <a:off x="718066" y="4931450"/>
            <a:ext cx="7707868" cy="1602700"/>
          </a:xfrm>
          <a:prstGeom prst="roundRect">
            <a:avLst>
              <a:gd name="adj" fmla="val 4705"/>
            </a:avLst>
          </a:prstGeom>
          <a:solidFill>
            <a:srgbClr val="0D0A2C">
              <a:alpha val="95000"/>
            </a:srgbClr>
          </a:solidFill>
          <a:ln w="22860">
            <a:solidFill>
              <a:srgbClr val="4A2C85"/>
            </a:solidFill>
            <a:prstDash val="solid"/>
          </a:ln>
        </p:spPr>
      </p:sp>
      <p:pic>
        <p:nvPicPr>
          <p:cNvPr id="16" name="Image 5" descr="preencoded.png"/>
          <p:cNvPicPr>
            <a:picLocks noChangeAspect="1"/>
          </p:cNvPicPr>
          <p:nvPr/>
        </p:nvPicPr>
        <p:blipFill>
          <a:blip r:embed="rId4"/>
          <a:stretch>
            <a:fillRect/>
          </a:stretch>
        </p:blipFill>
        <p:spPr>
          <a:xfrm>
            <a:off x="633293" y="4846677"/>
            <a:ext cx="215384" cy="215384"/>
          </a:xfrm>
          <a:prstGeom prst="rect">
            <a:avLst/>
          </a:prstGeom>
        </p:spPr>
      </p:pic>
      <p:pic>
        <p:nvPicPr>
          <p:cNvPr id="17" name="Image 6" descr="preencoded.png"/>
          <p:cNvPicPr>
            <a:picLocks noChangeAspect="1"/>
          </p:cNvPicPr>
          <p:nvPr/>
        </p:nvPicPr>
        <p:blipFill>
          <a:blip r:embed="rId5"/>
          <a:stretch>
            <a:fillRect/>
          </a:stretch>
        </p:blipFill>
        <p:spPr>
          <a:xfrm>
            <a:off x="8295323" y="6403538"/>
            <a:ext cx="215384" cy="215384"/>
          </a:xfrm>
          <a:prstGeom prst="rect">
            <a:avLst/>
          </a:prstGeom>
        </p:spPr>
      </p:pic>
      <p:sp>
        <p:nvSpPr>
          <p:cNvPr id="18" name="Text 9"/>
          <p:cNvSpPr/>
          <p:nvPr/>
        </p:nvSpPr>
        <p:spPr>
          <a:xfrm>
            <a:off x="1010126" y="5223510"/>
            <a:ext cx="4625221" cy="336590"/>
          </a:xfrm>
          <a:prstGeom prst="rect">
            <a:avLst/>
          </a:prstGeom>
          <a:noFill/>
          <a:ln/>
        </p:spPr>
        <p:txBody>
          <a:bodyPr wrap="non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Improved Operational Intelligence</a:t>
            </a:r>
            <a:endParaRPr lang="en-US" sz="2100" dirty="0"/>
          </a:p>
        </p:txBody>
      </p:sp>
      <p:sp>
        <p:nvSpPr>
          <p:cNvPr id="19" name="Text 10"/>
          <p:cNvSpPr/>
          <p:nvPr/>
        </p:nvSpPr>
        <p:spPr>
          <a:xfrm>
            <a:off x="1010126" y="5667732"/>
            <a:ext cx="7123748" cy="574358"/>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Providing managers with powerful insights for strategic planning and proactive problem-solving.</a:t>
            </a:r>
            <a:endParaRPr lang="en-US" sz="1400" dirty="0"/>
          </a:p>
        </p:txBody>
      </p:sp>
      <p:sp>
        <p:nvSpPr>
          <p:cNvPr id="20" name="Text 11"/>
          <p:cNvSpPr/>
          <p:nvPr/>
        </p:nvSpPr>
        <p:spPr>
          <a:xfrm>
            <a:off x="718066" y="6736080"/>
            <a:ext cx="7707868" cy="574358"/>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NeuroFleetX empowers organizations to achieve greater control, sustainability, and responsiveness in their urban mobility endeavors, driving forward the evolution of smart cities.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02DDA9-6D24-4778-5C9B-F8E2DA2ABEEE}"/>
              </a:ext>
            </a:extLst>
          </p:cNvPr>
          <p:cNvPicPr>
            <a:picLocks noChangeAspect="1"/>
          </p:cNvPicPr>
          <p:nvPr/>
        </p:nvPicPr>
        <p:blipFill>
          <a:blip r:embed="rId2"/>
          <a:stretch>
            <a:fillRect/>
          </a:stretch>
        </p:blipFill>
        <p:spPr>
          <a:xfrm>
            <a:off x="351534" y="301833"/>
            <a:ext cx="13516866" cy="7625934"/>
          </a:xfrm>
          <a:prstGeom prst="rect">
            <a:avLst/>
          </a:prstGeom>
        </p:spPr>
      </p:pic>
    </p:spTree>
    <p:extLst>
      <p:ext uri="{BB962C8B-B14F-4D97-AF65-F5344CB8AC3E}">
        <p14:creationId xmlns:p14="http://schemas.microsoft.com/office/powerpoint/2010/main" val="2227490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1003</Words>
  <Application>Microsoft Office PowerPoint</Application>
  <PresentationFormat>Custom</PresentationFormat>
  <Paragraphs>116</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Heebo Light</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Bhanu prasad babu Bellala</dc:creator>
  <cp:lastModifiedBy>Bhanu prasad babu Bellala</cp:lastModifiedBy>
  <cp:revision>4</cp:revision>
  <dcterms:created xsi:type="dcterms:W3CDTF">2025-12-07T16:25:09Z</dcterms:created>
  <dcterms:modified xsi:type="dcterms:W3CDTF">2025-12-09T14:39:36Z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1298512</vt:lpwstr>
  </property>
  <property fmtid="{D5CDD505-2E9C-101B-9397-08002B2CF9AE}" pid="3" name="NXPowerLiteSettings">
    <vt:lpwstr>F7000400038000</vt:lpwstr>
  </property>
  <property fmtid="{D5CDD505-2E9C-101B-9397-08002B2CF9AE}" pid="4" name="NXPowerLiteVersion">
    <vt:lpwstr>S10.9.4</vt:lpwstr>
  </property>
</Properties>
</file>